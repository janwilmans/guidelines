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5"/>
    <p:sldId id="310" r:id="rId6"/>
    <p:sldId id="324" r:id="rId7"/>
    <p:sldId id="313" r:id="rId8"/>
    <p:sldId id="326" r:id="rId9"/>
    <p:sldId id="314" r:id="rId10"/>
    <p:sldId id="308" r:id="rId11"/>
    <p:sldId id="319" r:id="rId12"/>
    <p:sldId id="322" r:id="rId13"/>
    <p:sldId id="330" r:id="rId14"/>
    <p:sldId id="331" r:id="rId15"/>
    <p:sldId id="332" r:id="rId16"/>
    <p:sldId id="333" r:id="rId17"/>
    <p:sldId id="334" r:id="rId18"/>
    <p:sldId id="321" r:id="rId19"/>
    <p:sldId id="335" r:id="rId20"/>
    <p:sldId id="340" r:id="rId21"/>
    <p:sldId id="341" r:id="rId22"/>
    <p:sldId id="344" r:id="rId23"/>
    <p:sldId id="342" r:id="rId24"/>
    <p:sldId id="343" r:id="rId25"/>
    <p:sldId id="352" r:id="rId26"/>
    <p:sldId id="345" r:id="rId27"/>
    <p:sldId id="353" r:id="rId28"/>
    <p:sldId id="360" r:id="rId29"/>
    <p:sldId id="363" r:id="rId30"/>
    <p:sldId id="362" r:id="rId31"/>
    <p:sldId id="346" r:id="rId32"/>
    <p:sldId id="361" r:id="rId33"/>
    <p:sldId id="348" r:id="rId34"/>
    <p:sldId id="350" r:id="rId35"/>
    <p:sldId id="349" r:id="rId36"/>
    <p:sldId id="351" r:id="rId37"/>
    <p:sldId id="325" r:id="rId38"/>
    <p:sldId id="354" r:id="rId39"/>
    <p:sldId id="355" r:id="rId40"/>
    <p:sldId id="357" r:id="rId41"/>
    <p:sldId id="358" r:id="rId42"/>
    <p:sldId id="317" r:id="rId43"/>
    <p:sldId id="359" r:id="rId44"/>
    <p:sldId id="356" r:id="rId45"/>
    <p:sldId id="347" r:id="rId46"/>
    <p:sldId id="318" r:id="rId47"/>
    <p:sldId id="337" r:id="rId48"/>
    <p:sldId id="329" r:id="rId49"/>
    <p:sldId id="328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80E848-9569-4B35-BEE0-67979AEFFDCF}" v="27" dt="2025-10-11T09:15:21.373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09" autoAdjust="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commentAuthors" Target="commentAuthors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11-Oct-25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11-Oct-25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initialization by auto [ab]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66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04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45E8B-3278-A720-7086-1FC8EF2F7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9CF02E-7623-87CC-A603-AC8896DAD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8949C0-834D-76F9-E33F-46D2EEBEA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BE265-3C7D-FC0C-1A35-467E396EDB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086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43D45-412A-F316-E093-74AAD9C3F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84E696-C79F-9720-1242-1B0BD0D0A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88E6B7-A773-1249-51EB-79943AAC8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1634D-3F20-AA84-AA8C-A0C058067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51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F12828D-57CA-E75C-BD24-4903DB19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  <p15:guide id="4" pos="57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/>
              <a:t>Click to add text </a:t>
            </a:r>
          </a:p>
          <a:p>
            <a:pPr marL="685800" lvl="1" indent="-228600"/>
            <a:r>
              <a:rPr lang="en-US"/>
              <a:t>Second level</a:t>
            </a:r>
          </a:p>
          <a:p>
            <a:pPr marL="1143000" lvl="2" indent="-228600"/>
            <a:r>
              <a:rPr lang="en-US"/>
              <a:t>Third level</a:t>
            </a:r>
          </a:p>
          <a:p>
            <a:pPr marL="1600200" lvl="3" indent="-228600"/>
            <a:r>
              <a:rPr lang="en-US"/>
              <a:t>Fourth level</a:t>
            </a:r>
          </a:p>
          <a:p>
            <a:pPr marL="2057400" lvl="4" indent="-228600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insert table</a:t>
            </a:r>
          </a:p>
          <a:p>
            <a:endParaRPr lang="en-US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>
          <p15:clr>
            <a:srgbClr val="5ACBF0"/>
          </p15:clr>
        </p15:guide>
        <p15:guide id="2" pos="1920">
          <p15:clr>
            <a:srgbClr val="F26B43"/>
          </p15:clr>
        </p15:guide>
        <p15:guide id="3" pos="5760">
          <p15:clr>
            <a:srgbClr val="F26B43"/>
          </p15:clr>
        </p15:guide>
        <p15:guide id="4" orient="horz" pos="2160">
          <p15:clr>
            <a:srgbClr val="F26B43"/>
          </p15:clr>
        </p15:guide>
        <p15:guide id="5" pos="1272">
          <p15:clr>
            <a:srgbClr val="9FCC3B"/>
          </p15:clr>
        </p15:guide>
        <p15:guide id="6" pos="2544">
          <p15:clr>
            <a:srgbClr val="9FCC3B"/>
          </p15:clr>
        </p15:guide>
        <p15:guide id="7" pos="5112">
          <p15:clr>
            <a:srgbClr val="9FCC3B"/>
          </p15:clr>
        </p15:guide>
        <p15:guide id="8" pos="6408">
          <p15:clr>
            <a:srgbClr val="9FCC3B"/>
          </p15:clr>
        </p15:guide>
        <p15:guide id="9" pos="3940">
          <p15:clr>
            <a:srgbClr val="F26B43"/>
          </p15:clr>
        </p15:guide>
        <p15:guide id="10" pos="710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hyperlink" Target="https://www.meetup.com/nl-NL/cpp_meetup_eindhoven/" TargetMode="External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hyperlink" Target="https://vimec.nl/" TargetMode="External"/><Relationship Id="rId2" Type="http://schemas.openxmlformats.org/officeDocument/2006/relationships/image" Target="../media/image28.png"/><Relationship Id="rId16" Type="http://schemas.openxmlformats.org/officeDocument/2006/relationships/hyperlink" Target="https://nullptr.nl/" TargetMode="Externa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19" Type="http://schemas.openxmlformats.org/officeDocument/2006/relationships/image" Target="../media/image42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www.youtube.com/watch?v=MBRoCdtZOYg" TargetMode="Externa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editorconfig.org/" TargetMode="External"/><Relationship Id="rId2" Type="http://schemas.openxmlformats.org/officeDocument/2006/relationships/hyperlink" Target="https://clang.llvm.org/docs/ClangFormat.html" TargetMode="Externa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nwilmans/OpenCanary" TargetMode="Externa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6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godbolt.org/z/5dvMEvdoe" TargetMode="Externa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hyperlink" Target="https://godbolt.org/z/8r3vGn7a4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en.cppreference.com/w/cpp/language/as_operator.html" TargetMode="External"/><Relationship Id="rId5" Type="http://schemas.openxmlformats.org/officeDocument/2006/relationships/hyperlink" Target="https://en.cppreference.com/w/cpp/language/copy_constructor.html" TargetMode="External"/><Relationship Id="rId4" Type="http://schemas.openxmlformats.org/officeDocument/2006/relationships/hyperlink" Target="https://en.cppreference.com/w/cpp/language/destructor.html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hyperlink" Target="https://en.cppreference.com/w/cpp/language/rule_of_three.html" TargetMode="Externa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nwilmans/guidelines/blob/main/guidelines_details.md" TargetMode="Externa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9901" y="116007"/>
            <a:ext cx="8640040" cy="3539237"/>
          </a:xfrm>
        </p:spPr>
        <p:txBody>
          <a:bodyPr>
            <a:normAutofit/>
          </a:bodyPr>
          <a:lstStyle/>
          <a:p>
            <a:r>
              <a:rPr lang="en-US" b="0" dirty="0"/>
              <a:t>Default Guidelines </a:t>
            </a:r>
            <a:r>
              <a:rPr lang="en-US" sz="4000" b="0" dirty="0"/>
              <a:t>for Better C++</a:t>
            </a:r>
            <a:br>
              <a:rPr lang="en-US" dirty="0"/>
            </a:br>
            <a:br>
              <a:rPr lang="en-US" dirty="0"/>
            </a:br>
            <a:r>
              <a:rPr lang="en-US" dirty="0"/>
              <a:t>Jan Wilmans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24653B-CB5D-FF65-8A7B-6A24600458DF}"/>
              </a:ext>
            </a:extLst>
          </p:cNvPr>
          <p:cNvSpPr txBox="1"/>
          <p:nvPr/>
        </p:nvSpPr>
        <p:spPr>
          <a:xfrm>
            <a:off x="6928702" y="6341883"/>
            <a:ext cx="3610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2000" i="0" u="none" strike="noStrike" kern="1200" cap="all" spc="0" normalizeH="0" baseline="0" noProof="0">
                <a:ln>
                  <a:noFill/>
                </a:ln>
                <a:solidFill>
                  <a:srgbClr val="F8F0E3"/>
                </a:solidFill>
                <a:effectLst/>
                <a:uLnTx/>
                <a:uFillTx/>
                <a:latin typeface="Aptos" panose="020B0004020202020204" pitchFamily="34" charset="0"/>
                <a:ea typeface="DotumChe" panose="020B0503020000020004" pitchFamily="49" charset="-127"/>
                <a:cs typeface="+mj-cs"/>
              </a:rPr>
              <a:t>C++ under the sea 2025</a:t>
            </a:r>
            <a:endParaRPr lang="en-US" sz="800">
              <a:latin typeface="Aptos" panose="020B0004020202020204" pitchFamily="34" charset="0"/>
              <a:ea typeface="DotumChe" panose="020B0503020000020004" pitchFamily="49" charset="-127"/>
            </a:endParaRPr>
          </a:p>
        </p:txBody>
      </p:sp>
      <p:pic>
        <p:nvPicPr>
          <p:cNvPr id="2050" name="Picture 2" descr="C++ Under the Sea 2025">
            <a:extLst>
              <a:ext uri="{FF2B5EF4-FFF2-40B4-BE49-F238E27FC236}">
                <a16:creationId xmlns:a16="http://schemas.microsoft.com/office/drawing/2014/main" id="{15013776-2B4D-E69C-8371-D535C34CD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4375" y="5099088"/>
            <a:ext cx="1642905" cy="1642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26641-3E70-7D5F-1479-CF9180476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A43710-5676-679D-4D21-6ABCB834B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545C3D-1D1C-526B-193A-ECDB6CA50505}"/>
              </a:ext>
            </a:extLst>
          </p:cNvPr>
          <p:cNvSpPr txBox="1"/>
          <p:nvPr/>
        </p:nvSpPr>
        <p:spPr>
          <a:xfrm>
            <a:off x="2906626" y="93452"/>
            <a:ext cx="618073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/>
              <a:t>Software developer for 20+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/>
              <a:t>Contributor to WG21, SG14 and SG1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/>
              <a:t>Vimec: Quality Inspection of Medical Glass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/>
              <a:t>C++Coach / Software Architect for Vimec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/>
              <a:t>Co-Organizer C++ Meetup Eindhoven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30A0CE-4000-B4C2-000F-E19D7115CCAE}"/>
              </a:ext>
            </a:extLst>
          </p:cNvPr>
          <p:cNvSpPr txBox="1"/>
          <p:nvPr/>
        </p:nvSpPr>
        <p:spPr>
          <a:xfrm>
            <a:off x="140323" y="184224"/>
            <a:ext cx="23903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/>
              <a:t>About me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175437-D739-173B-807D-C47F5198D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596" y="6164849"/>
            <a:ext cx="814410" cy="4980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046905-45D0-4C3E-75DF-CBCEE4F46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72" y="2416113"/>
            <a:ext cx="548008" cy="5363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03D0949-7D83-D8E0-2F7F-5EC9A94AB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5786" y="6165128"/>
            <a:ext cx="1160228" cy="5086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43C0645-1295-CC9D-8671-2AAEACA7AF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23" y="6165129"/>
            <a:ext cx="2293224" cy="5086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FE80322-00EB-5D86-9776-C0E5B3C097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7254" y="6167716"/>
            <a:ext cx="1137178" cy="4951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35EC5D-8BB7-6333-B205-407B1F3CA4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5672" y="6164852"/>
            <a:ext cx="1216072" cy="4980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0499FB0-AC4C-94A8-F258-CBCFF474FC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2984" y="6164849"/>
            <a:ext cx="1284372" cy="4980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BEEDB69-22F5-681E-DAA9-A5B0FE48D8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669" y="830555"/>
            <a:ext cx="2507803" cy="14478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6DC720A-1256-E4C5-64B1-6BB2A348386A}"/>
              </a:ext>
            </a:extLst>
          </p:cNvPr>
          <p:cNvSpPr txBox="1"/>
          <p:nvPr/>
        </p:nvSpPr>
        <p:spPr>
          <a:xfrm>
            <a:off x="6775469" y="4280480"/>
            <a:ext cx="4329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Quality inspection of Medical Glass</a:t>
            </a:r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1345455-FA52-BE5F-DD3A-4AD46C34372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669" y="2416113"/>
            <a:ext cx="536317" cy="53631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6D33BA4-0498-491E-D457-4F50337A36F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17766" y="2416113"/>
            <a:ext cx="574455" cy="53631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5218CA4-EDDF-F69C-FB3E-11F5CE445CD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20582" y="6165938"/>
            <a:ext cx="2316524" cy="49693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12E318F-C2C1-7C36-FDFB-3CA76A1ADF6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24516" y="5043621"/>
            <a:ext cx="2468969" cy="79930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D537D54-72EF-5F91-AA45-EACF89F662D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24516" y="2343704"/>
            <a:ext cx="2464829" cy="25983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BE75565-F097-8E0D-D02F-A3F5A51667F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19975" y="2343704"/>
            <a:ext cx="4992555" cy="34992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938AFCE-0336-CE7F-D78F-1AD85646C608}"/>
              </a:ext>
            </a:extLst>
          </p:cNvPr>
          <p:cNvSpPr txBox="1"/>
          <p:nvPr/>
        </p:nvSpPr>
        <p:spPr>
          <a:xfrm>
            <a:off x="61761" y="3086333"/>
            <a:ext cx="79663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https://nullptr.nl</a:t>
            </a:r>
            <a:endParaRPr lang="en-US" sz="2000" b="1"/>
          </a:p>
          <a:p>
            <a:r>
              <a:rPr lang="en-US" sz="2000" b="1"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https://vimec.nl</a:t>
            </a:r>
            <a:endParaRPr lang="en-US" sz="2000" b="1"/>
          </a:p>
          <a:p>
            <a:endParaRPr lang="en-US" sz="2000" b="1"/>
          </a:p>
          <a:p>
            <a:endParaRPr lang="en-US" sz="2000" b="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658316-C221-63AA-8844-28CA4CD3A3F1}"/>
              </a:ext>
            </a:extLst>
          </p:cNvPr>
          <p:cNvSpPr txBox="1"/>
          <p:nvPr/>
        </p:nvSpPr>
        <p:spPr>
          <a:xfrm>
            <a:off x="2906626" y="1842069"/>
            <a:ext cx="79663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https://www.meetup.com/nl-NL/cpp_meetup_eindhoven/</a:t>
            </a:r>
            <a:endParaRPr lang="en-US" sz="2000" b="1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4960DB-0A71-15CA-2CA8-9C436749E78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6266" y="4294345"/>
            <a:ext cx="1728428" cy="173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138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83E76-0541-E295-F1B1-EB346BF13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2FD8B-86A8-CBD1-15DF-BD81509B1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58" y="232911"/>
            <a:ext cx="9956370" cy="964710"/>
          </a:xfrm>
        </p:spPr>
        <p:txBody>
          <a:bodyPr>
            <a:normAutofit/>
          </a:bodyPr>
          <a:lstStyle/>
          <a:p>
            <a:r>
              <a:rPr lang="en-US"/>
              <a:t>The goal: Default guidelines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5A89A-B7BF-BBF6-5778-78C102F71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87AB44-0598-6B29-5E7C-6F4373520E1B}"/>
              </a:ext>
            </a:extLst>
          </p:cNvPr>
          <p:cNvSpPr txBox="1"/>
          <p:nvPr/>
        </p:nvSpPr>
        <p:spPr>
          <a:xfrm>
            <a:off x="2051345" y="2086705"/>
            <a:ext cx="78811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Use standard C++ and make it </a:t>
            </a:r>
            <a:r>
              <a:rPr lang="en-US" sz="2400" b="1"/>
              <a:t>expressive, consistent, and opinionated</a:t>
            </a:r>
            <a:r>
              <a:rPr lang="en-US" sz="2400"/>
              <a:t> — promoting </a:t>
            </a:r>
            <a:r>
              <a:rPr lang="en-US" sz="2400" b="1"/>
              <a:t>clarity</a:t>
            </a:r>
            <a:r>
              <a:rPr lang="en-US" sz="2400"/>
              <a:t> and </a:t>
            </a:r>
            <a:r>
              <a:rPr lang="en-US" sz="2400" b="1"/>
              <a:t>safety</a:t>
            </a:r>
            <a:r>
              <a:rPr lang="en-US" sz="2400"/>
              <a:t> through </a:t>
            </a:r>
            <a:r>
              <a:rPr lang="en-US" sz="2400" u="sng"/>
              <a:t>conventions</a:t>
            </a:r>
            <a:r>
              <a:rPr lang="en-US" sz="2400"/>
              <a:t> rather than new syntax.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1161B5-2813-E086-003D-C9C1DC6BCFC5}"/>
              </a:ext>
            </a:extLst>
          </p:cNvPr>
          <p:cNvSpPr txBox="1"/>
          <p:nvPr/>
        </p:nvSpPr>
        <p:spPr>
          <a:xfrm flipH="1">
            <a:off x="2051345" y="3908454"/>
            <a:ext cx="77375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Not all guidelines are coding guidelines</a:t>
            </a:r>
          </a:p>
          <a:p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Some are style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Some are part of the development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Some are c++ code related </a:t>
            </a:r>
          </a:p>
        </p:txBody>
      </p:sp>
    </p:spTree>
    <p:extLst>
      <p:ext uri="{BB962C8B-B14F-4D97-AF65-F5344CB8AC3E}">
        <p14:creationId xmlns:p14="http://schemas.microsoft.com/office/powerpoint/2010/main" val="2399564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EEBEA-7782-2012-D481-CB9516C21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8B8A2-E5A7-E4EC-9568-0718065E8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909" y="135806"/>
            <a:ext cx="7772470" cy="721949"/>
          </a:xfrm>
        </p:spPr>
        <p:txBody>
          <a:bodyPr>
            <a:normAutofit/>
          </a:bodyPr>
          <a:lstStyle/>
          <a:p>
            <a:r>
              <a:rPr lang="en-US"/>
              <a:t>understandable code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4E924D-F863-13BF-415A-9ED98E6C3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4C7507-63D9-EA84-DA8E-2B46F3D139A0}"/>
              </a:ext>
            </a:extLst>
          </p:cNvPr>
          <p:cNvSpPr txBox="1"/>
          <p:nvPr/>
        </p:nvSpPr>
        <p:spPr>
          <a:xfrm>
            <a:off x="-68852" y="1413129"/>
            <a:ext cx="9924868" cy="45858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buFont typeface="Arial"/>
              <a:buChar char="•"/>
            </a:pPr>
            <a:r>
              <a:rPr lang="en-US" sz="2400" b="1"/>
              <a:t>Make it more reader-friendly</a:t>
            </a:r>
          </a:p>
          <a:p>
            <a:pPr marL="1200150" lvl="2" indent="-285750">
              <a:buFont typeface="Arial"/>
              <a:buChar char="•"/>
            </a:pPr>
            <a:r>
              <a:rPr lang="en-US" sz="2400"/>
              <a:t>Use verbs in </a:t>
            </a:r>
            <a:r>
              <a:rPr lang="en-US" sz="2400" b="1"/>
              <a:t>function names </a:t>
            </a:r>
            <a:r>
              <a:rPr lang="en-US" sz="2400"/>
              <a:t>(express action)</a:t>
            </a:r>
          </a:p>
          <a:p>
            <a:pPr marL="1200150" lvl="2" indent="-285750">
              <a:buFont typeface="Arial"/>
              <a:buChar char="•"/>
            </a:pPr>
            <a:r>
              <a:rPr lang="en-US" sz="2400"/>
              <a:t>Use nouns in </a:t>
            </a:r>
            <a:r>
              <a:rPr lang="en-US" sz="2400" b="1"/>
              <a:t>class and variable names </a:t>
            </a:r>
          </a:p>
          <a:p>
            <a:pPr marL="1200150" lvl="2" indent="-285750">
              <a:buFont typeface="Arial"/>
              <a:buChar char="•"/>
            </a:pPr>
            <a:r>
              <a:rPr lang="en-US" sz="2400"/>
              <a:t>Maintain </a:t>
            </a:r>
            <a:r>
              <a:rPr lang="en-US" sz="2400" b="1"/>
              <a:t>consistent formatting (</a:t>
            </a:r>
            <a:r>
              <a:rPr lang="en-US" sz="2400"/>
              <a:t>use clang-format / astyle)</a:t>
            </a:r>
          </a:p>
          <a:p>
            <a:pPr marL="1200150" lvl="2" indent="-285750">
              <a:buFont typeface="Arial"/>
              <a:buChar char="•"/>
            </a:pPr>
            <a:r>
              <a:rPr lang="en-US" sz="2400"/>
              <a:t>Minimize</a:t>
            </a:r>
            <a:r>
              <a:rPr lang="en-US" sz="2400" b="1"/>
              <a:t> implicit conversions </a:t>
            </a:r>
            <a:r>
              <a:rPr lang="en-US" sz="2400"/>
              <a:t>(warnings can help)</a:t>
            </a:r>
          </a:p>
          <a:p>
            <a:pPr marL="1200150" lvl="2" indent="-285750">
              <a:buFont typeface="Arial"/>
              <a:buChar char="•"/>
            </a:pPr>
            <a:endParaRPr lang="en-US" sz="1600" b="1"/>
          </a:p>
          <a:p>
            <a:pPr marL="742950" lvl="1" indent="-285750">
              <a:buFont typeface="Arial"/>
              <a:buChar char="•"/>
            </a:pPr>
            <a:r>
              <a:rPr lang="en-US" sz="2400" b="1"/>
              <a:t>Make Local reasoning possible</a:t>
            </a:r>
          </a:p>
          <a:p>
            <a:pPr marL="1200150" lvl="2" indent="-285750">
              <a:buFont typeface="Arial"/>
              <a:buChar char="•"/>
            </a:pPr>
            <a:r>
              <a:rPr lang="en-US" sz="2400"/>
              <a:t>Limit variable scope</a:t>
            </a:r>
          </a:p>
          <a:p>
            <a:pPr marL="1200150" lvl="2" indent="-285750">
              <a:buFont typeface="Arial"/>
              <a:buChar char="•"/>
            </a:pPr>
            <a:r>
              <a:rPr lang="en-US" sz="2400"/>
              <a:t>Minimize </a:t>
            </a:r>
            <a:r>
              <a:rPr lang="en-US" sz="2400" b="1"/>
              <a:t>shared state </a:t>
            </a:r>
            <a:r>
              <a:rPr lang="en-US" sz="2400"/>
              <a:t>(and avoid global state)</a:t>
            </a:r>
          </a:p>
          <a:p>
            <a:pPr marL="1200150" lvl="2" indent="-285750">
              <a:buFont typeface="Arial"/>
              <a:buChar char="•"/>
            </a:pPr>
            <a:r>
              <a:rPr lang="en-US" sz="2400"/>
              <a:t>Prefer functions that do one thing (single responsibility)</a:t>
            </a:r>
          </a:p>
          <a:p>
            <a:pPr marL="1200150" lvl="2" indent="-285750">
              <a:buFont typeface="Arial"/>
              <a:buChar char="•"/>
            </a:pPr>
            <a:r>
              <a:rPr lang="en-US" sz="2400"/>
              <a:t>Prefer </a:t>
            </a:r>
            <a:r>
              <a:rPr lang="en-US" sz="3600" b="1"/>
              <a:t>const</a:t>
            </a:r>
            <a:r>
              <a:rPr lang="en-US" sz="2400" b="1"/>
              <a:t> </a:t>
            </a:r>
            <a:r>
              <a:rPr lang="en-US" sz="2400"/>
              <a:t>correctness!</a:t>
            </a:r>
          </a:p>
          <a:p>
            <a:pPr lvl="2"/>
            <a:endParaRPr lang="en-US" sz="24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4F0A8D-E5CB-87C9-F0F0-1F3931604C5F}"/>
              </a:ext>
            </a:extLst>
          </p:cNvPr>
          <p:cNvSpPr txBox="1"/>
          <p:nvPr/>
        </p:nvSpPr>
        <p:spPr>
          <a:xfrm>
            <a:off x="6449353" y="5917418"/>
            <a:ext cx="56269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err="1">
                <a:hlinkClick r:id="rId2"/>
              </a:rPr>
              <a:t>CppCon</a:t>
            </a:r>
            <a:r>
              <a:rPr lang="en-US" sz="1400" b="1">
                <a:hlinkClick r:id="rId2"/>
              </a:rPr>
              <a:t> 2019: Kate Gregory “Naming is Hard: Let's Do Better”</a:t>
            </a:r>
            <a:endParaRPr lang="en-US" sz="14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B8DADC5-62F3-E7D5-3BF1-A106489AB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317" y="2259933"/>
            <a:ext cx="2522683" cy="352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34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E9C1E-F4ED-70C5-4479-CD47FD86F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4D4F5A-ADCB-C0F6-815B-FA8A8679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F12D96-4FD5-6CC1-6C75-8EB2196DC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59" y="405738"/>
            <a:ext cx="10936682" cy="5841313"/>
          </a:xfrm>
          <a:prstGeom prst="rect">
            <a:avLst/>
          </a:prstGeom>
        </p:spPr>
      </p:pic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544A00C9-6387-4177-2F4F-FC3A7946D322}"/>
              </a:ext>
            </a:extLst>
          </p:cNvPr>
          <p:cNvSpPr/>
          <p:nvPr/>
        </p:nvSpPr>
        <p:spPr>
          <a:xfrm>
            <a:off x="9815640" y="1711120"/>
            <a:ext cx="2099304" cy="1040171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Mikhail:</a:t>
            </a:r>
          </a:p>
          <a:p>
            <a:pPr algn="ctr"/>
            <a:r>
              <a:rPr lang="en-US" b="1">
                <a:solidFill>
                  <a:schemeClr val="tx1"/>
                </a:solidFill>
              </a:rPr>
              <a:t>constexpr!</a:t>
            </a:r>
          </a:p>
        </p:txBody>
      </p:sp>
    </p:spTree>
    <p:extLst>
      <p:ext uri="{BB962C8B-B14F-4D97-AF65-F5344CB8AC3E}">
        <p14:creationId xmlns:p14="http://schemas.microsoft.com/office/powerpoint/2010/main" val="1904795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2C360-62BE-844B-C150-3BE7AAA1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90DEC-C10F-A98D-BC8D-A38550C9B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58" y="232911"/>
            <a:ext cx="7099881" cy="997078"/>
          </a:xfrm>
        </p:spPr>
        <p:txBody>
          <a:bodyPr>
            <a:normAutofit/>
          </a:bodyPr>
          <a:lstStyle/>
          <a:p>
            <a:r>
              <a:rPr lang="en-US"/>
              <a:t>Maintainable code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7FC34A-44D7-2889-8B20-EF382E45C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D44056-D755-C2D4-793C-A2896CB9354F}"/>
              </a:ext>
            </a:extLst>
          </p:cNvPr>
          <p:cNvSpPr txBox="1"/>
          <p:nvPr/>
        </p:nvSpPr>
        <p:spPr>
          <a:xfrm>
            <a:off x="0" y="1229989"/>
            <a:ext cx="10115044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sz="2400"/>
              <a:t>Relies on correctness, which is a hard problem, but can be supported by process and tools:</a:t>
            </a:r>
          </a:p>
          <a:p>
            <a:pPr lvl="1"/>
            <a:endParaRPr lang="en-US" sz="2400"/>
          </a:p>
          <a:p>
            <a:pPr marL="742950" lvl="1" indent="-285750">
              <a:buFont typeface="Arial"/>
              <a:buChar char="•"/>
            </a:pPr>
            <a:r>
              <a:rPr lang="en-US" sz="2400"/>
              <a:t>Code reviews</a:t>
            </a:r>
          </a:p>
          <a:p>
            <a:pPr marL="742950" lvl="1" indent="-285750">
              <a:buFont typeface="Arial"/>
              <a:buChar char="•"/>
            </a:pPr>
            <a:r>
              <a:rPr lang="en-US" sz="2400"/>
              <a:t>Tests</a:t>
            </a:r>
          </a:p>
          <a:p>
            <a:pPr marL="742950" lvl="1" indent="-285750">
              <a:buFont typeface="Arial"/>
              <a:buChar char="•"/>
            </a:pPr>
            <a:r>
              <a:rPr lang="en-US" sz="2400"/>
              <a:t>Build time checks</a:t>
            </a:r>
          </a:p>
          <a:p>
            <a:pPr marL="1200150" lvl="2" indent="-285750">
              <a:buFont typeface="Arial"/>
              <a:buChar char="•"/>
            </a:pPr>
            <a:r>
              <a:rPr lang="en-US" sz="2400"/>
              <a:t>Compiler warnings</a:t>
            </a:r>
          </a:p>
          <a:p>
            <a:pPr marL="1200150" lvl="2" indent="-285750">
              <a:buFont typeface="Arial"/>
              <a:buChar char="•"/>
            </a:pPr>
            <a:r>
              <a:rPr lang="en-US" sz="2400"/>
              <a:t>Sanitizers</a:t>
            </a:r>
          </a:p>
          <a:p>
            <a:pPr marL="1200150" lvl="2" indent="-285750">
              <a:buFont typeface="Arial"/>
              <a:buChar char="•"/>
            </a:pPr>
            <a:r>
              <a:rPr lang="en-US" sz="2400"/>
              <a:t>Spellings checkers (for comments)</a:t>
            </a:r>
          </a:p>
          <a:p>
            <a:pPr marL="1200150" lvl="2" indent="-285750">
              <a:buFont typeface="Arial"/>
              <a:buChar char="•"/>
            </a:pPr>
            <a:r>
              <a:rPr lang="en-US" sz="2400" b="1"/>
              <a:t>Safeguards</a:t>
            </a:r>
            <a:r>
              <a:rPr lang="en-US" sz="2400"/>
              <a:t> in Continuous Integration (CI)</a:t>
            </a:r>
          </a:p>
        </p:txBody>
      </p:sp>
    </p:spTree>
    <p:extLst>
      <p:ext uri="{BB962C8B-B14F-4D97-AF65-F5344CB8AC3E}">
        <p14:creationId xmlns:p14="http://schemas.microsoft.com/office/powerpoint/2010/main" val="2545676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AC06E-D643-6CD3-FF80-32EB1DA97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3CA1C-4F32-804A-48CA-9958C7788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651008" y="9447931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8BC33A-40F2-5AFA-6244-674F7EA48F9C}"/>
              </a:ext>
            </a:extLst>
          </p:cNvPr>
          <p:cNvSpPr/>
          <p:nvPr/>
        </p:nvSpPr>
        <p:spPr>
          <a:xfrm>
            <a:off x="4114543" y="2348069"/>
            <a:ext cx="2300563" cy="5037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Readable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EA328F-9D92-A49D-7F77-82ABAEF491B8}"/>
              </a:ext>
            </a:extLst>
          </p:cNvPr>
          <p:cNvSpPr/>
          <p:nvPr/>
        </p:nvSpPr>
        <p:spPr>
          <a:xfrm>
            <a:off x="7611995" y="2079885"/>
            <a:ext cx="1668380" cy="17547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Understand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DB58D83-9FCB-7F0D-EE82-A6A0F1E50E06}"/>
              </a:ext>
            </a:extLst>
          </p:cNvPr>
          <p:cNvSpPr/>
          <p:nvPr/>
        </p:nvSpPr>
        <p:spPr>
          <a:xfrm>
            <a:off x="9999667" y="2428773"/>
            <a:ext cx="1876319" cy="35425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Maintainable</a:t>
            </a:r>
          </a:p>
          <a:p>
            <a:pPr algn="ctr"/>
            <a:r>
              <a:rPr lang="en-US"/>
              <a:t>code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DEBC6F4-9729-83EB-DE7B-085A8F5FF9CB}"/>
              </a:ext>
            </a:extLst>
          </p:cNvPr>
          <p:cNvSpPr/>
          <p:nvPr/>
        </p:nvSpPr>
        <p:spPr>
          <a:xfrm>
            <a:off x="3364961" y="4459558"/>
            <a:ext cx="5915413" cy="1511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Correctness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FEC93EC3-BE55-C9C3-5553-8D3D79149C7B}"/>
              </a:ext>
            </a:extLst>
          </p:cNvPr>
          <p:cNvCxnSpPr>
            <a:cxnSpLocks/>
            <a:stCxn id="10" idx="3"/>
            <a:endCxn id="17" idx="1"/>
          </p:cNvCxnSpPr>
          <p:nvPr/>
        </p:nvCxnSpPr>
        <p:spPr>
          <a:xfrm>
            <a:off x="9280375" y="2957257"/>
            <a:ext cx="719292" cy="12427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C25E3D17-182E-D6F5-F2D9-898965F7B7BD}"/>
              </a:ext>
            </a:extLst>
          </p:cNvPr>
          <p:cNvCxnSpPr>
            <a:cxnSpLocks/>
            <a:stCxn id="19" idx="3"/>
            <a:endCxn id="17" idx="1"/>
          </p:cNvCxnSpPr>
          <p:nvPr/>
        </p:nvCxnSpPr>
        <p:spPr>
          <a:xfrm flipV="1">
            <a:off x="9280374" y="4200044"/>
            <a:ext cx="719293" cy="101539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A19649C-4F46-FE39-2910-B7D66788D788}"/>
              </a:ext>
            </a:extLst>
          </p:cNvPr>
          <p:cNvSpPr/>
          <p:nvPr/>
        </p:nvSpPr>
        <p:spPr>
          <a:xfrm>
            <a:off x="4114543" y="2997177"/>
            <a:ext cx="2300563" cy="5941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Local Reasoning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0FF81D9-71C3-2D13-EE36-3DF1DD505534}"/>
              </a:ext>
            </a:extLst>
          </p:cNvPr>
          <p:cNvSpPr/>
          <p:nvPr/>
        </p:nvSpPr>
        <p:spPr>
          <a:xfrm>
            <a:off x="335172" y="4523639"/>
            <a:ext cx="1876320" cy="3197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Tests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9426B954-9630-E04B-B1B9-46935976FE3D}"/>
              </a:ext>
            </a:extLst>
          </p:cNvPr>
          <p:cNvSpPr/>
          <p:nvPr/>
        </p:nvSpPr>
        <p:spPr>
          <a:xfrm>
            <a:off x="335170" y="5002141"/>
            <a:ext cx="1876320" cy="4073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Sanitizers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A504B0D-B5C6-83E4-23A0-EBAF6D391A46}"/>
              </a:ext>
            </a:extLst>
          </p:cNvPr>
          <p:cNvSpPr/>
          <p:nvPr/>
        </p:nvSpPr>
        <p:spPr>
          <a:xfrm>
            <a:off x="335171" y="5564727"/>
            <a:ext cx="1876320" cy="4073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CI Safeguards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238C0726-392B-596C-CA8D-655004433CAA}"/>
              </a:ext>
            </a:extLst>
          </p:cNvPr>
          <p:cNvCxnSpPr>
            <a:cxnSpLocks/>
          </p:cNvCxnSpPr>
          <p:nvPr/>
        </p:nvCxnSpPr>
        <p:spPr>
          <a:xfrm>
            <a:off x="2211492" y="4675279"/>
            <a:ext cx="1153469" cy="53191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8A5DA164-C7E4-88B6-57C8-871EBF8DFB85}"/>
              </a:ext>
            </a:extLst>
          </p:cNvPr>
          <p:cNvCxnSpPr>
            <a:cxnSpLocks/>
          </p:cNvCxnSpPr>
          <p:nvPr/>
        </p:nvCxnSpPr>
        <p:spPr>
          <a:xfrm>
            <a:off x="2211490" y="5205828"/>
            <a:ext cx="1153471" cy="96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AB29D698-2D32-FE44-10A5-11A42ED39FA0}"/>
              </a:ext>
            </a:extLst>
          </p:cNvPr>
          <p:cNvCxnSpPr>
            <a:cxnSpLocks/>
          </p:cNvCxnSpPr>
          <p:nvPr/>
        </p:nvCxnSpPr>
        <p:spPr>
          <a:xfrm flipV="1">
            <a:off x="2211491" y="5215436"/>
            <a:ext cx="1153470" cy="5529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AE12A6E3-97C0-252F-C663-E8B8CEC873D9}"/>
              </a:ext>
            </a:extLst>
          </p:cNvPr>
          <p:cNvSpPr/>
          <p:nvPr/>
        </p:nvSpPr>
        <p:spPr>
          <a:xfrm>
            <a:off x="335171" y="3085472"/>
            <a:ext cx="1876318" cy="4317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 shared state</a:t>
            </a:r>
          </a:p>
        </p:txBody>
      </p:sp>
      <p:cxnSp>
        <p:nvCxnSpPr>
          <p:cNvPr id="170" name="Connector: Elbow 169">
            <a:extLst>
              <a:ext uri="{FF2B5EF4-FFF2-40B4-BE49-F238E27FC236}">
                <a16:creationId xmlns:a16="http://schemas.microsoft.com/office/drawing/2014/main" id="{09F950A7-9770-87E6-611E-6F2AC41F400D}"/>
              </a:ext>
            </a:extLst>
          </p:cNvPr>
          <p:cNvCxnSpPr>
            <a:cxnSpLocks/>
          </p:cNvCxnSpPr>
          <p:nvPr/>
        </p:nvCxnSpPr>
        <p:spPr>
          <a:xfrm flipV="1">
            <a:off x="2211489" y="3286036"/>
            <a:ext cx="1903054" cy="70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5CBE3ABA-7CA7-562C-78BB-9F398071E208}"/>
              </a:ext>
            </a:extLst>
          </p:cNvPr>
          <p:cNvSpPr/>
          <p:nvPr/>
        </p:nvSpPr>
        <p:spPr>
          <a:xfrm>
            <a:off x="335171" y="1536897"/>
            <a:ext cx="1876318" cy="3617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Naming</a:t>
            </a:r>
          </a:p>
        </p:txBody>
      </p:sp>
      <p:cxnSp>
        <p:nvCxnSpPr>
          <p:cNvPr id="185" name="Connector: Elbow 184">
            <a:extLst>
              <a:ext uri="{FF2B5EF4-FFF2-40B4-BE49-F238E27FC236}">
                <a16:creationId xmlns:a16="http://schemas.microsoft.com/office/drawing/2014/main" id="{CBD5EBB9-924F-C7EC-B219-07674B411734}"/>
              </a:ext>
            </a:extLst>
          </p:cNvPr>
          <p:cNvCxnSpPr>
            <a:cxnSpLocks/>
            <a:stCxn id="183" idx="3"/>
            <a:endCxn id="9" idx="0"/>
          </p:cNvCxnSpPr>
          <p:nvPr/>
        </p:nvCxnSpPr>
        <p:spPr>
          <a:xfrm>
            <a:off x="2211489" y="1717760"/>
            <a:ext cx="3053336" cy="6303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6245EFC6-3ADC-775C-8E09-CB56CA715965}"/>
              </a:ext>
            </a:extLst>
          </p:cNvPr>
          <p:cNvSpPr/>
          <p:nvPr/>
        </p:nvSpPr>
        <p:spPr>
          <a:xfrm>
            <a:off x="335171" y="3707297"/>
            <a:ext cx="1876318" cy="4010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Use const</a:t>
            </a:r>
          </a:p>
        </p:txBody>
      </p:sp>
      <p:cxnSp>
        <p:nvCxnSpPr>
          <p:cNvPr id="200" name="Connector: Elbow 199">
            <a:extLst>
              <a:ext uri="{FF2B5EF4-FFF2-40B4-BE49-F238E27FC236}">
                <a16:creationId xmlns:a16="http://schemas.microsoft.com/office/drawing/2014/main" id="{F039BB68-71BD-7341-7455-3E8E139D4224}"/>
              </a:ext>
            </a:extLst>
          </p:cNvPr>
          <p:cNvCxnSpPr>
            <a:cxnSpLocks/>
            <a:stCxn id="197" idx="3"/>
            <a:endCxn id="51" idx="1"/>
          </p:cNvCxnSpPr>
          <p:nvPr/>
        </p:nvCxnSpPr>
        <p:spPr>
          <a:xfrm flipV="1">
            <a:off x="2211489" y="3294274"/>
            <a:ext cx="1903054" cy="6135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AB925A0F-F057-53E3-D781-1B17FD5652F8}"/>
              </a:ext>
            </a:extLst>
          </p:cNvPr>
          <p:cNvSpPr/>
          <p:nvPr/>
        </p:nvSpPr>
        <p:spPr>
          <a:xfrm>
            <a:off x="335171" y="2261056"/>
            <a:ext cx="1876318" cy="6242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well-defined lifetimes</a:t>
            </a:r>
          </a:p>
        </p:txBody>
      </p:sp>
      <p:cxnSp>
        <p:nvCxnSpPr>
          <p:cNvPr id="227" name="Connector: Elbow 226">
            <a:extLst>
              <a:ext uri="{FF2B5EF4-FFF2-40B4-BE49-F238E27FC236}">
                <a16:creationId xmlns:a16="http://schemas.microsoft.com/office/drawing/2014/main" id="{F1277015-8265-3874-095F-0B3FBA940D12}"/>
              </a:ext>
            </a:extLst>
          </p:cNvPr>
          <p:cNvCxnSpPr>
            <a:cxnSpLocks/>
            <a:stCxn id="217" idx="3"/>
            <a:endCxn id="51" idx="1"/>
          </p:cNvCxnSpPr>
          <p:nvPr/>
        </p:nvCxnSpPr>
        <p:spPr>
          <a:xfrm>
            <a:off x="2211489" y="2573172"/>
            <a:ext cx="1903054" cy="72110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4B45CC6-27EB-D9E1-7348-BC4A12B250D7}"/>
              </a:ext>
            </a:extLst>
          </p:cNvPr>
          <p:cNvSpPr txBox="1"/>
          <p:nvPr/>
        </p:nvSpPr>
        <p:spPr>
          <a:xfrm>
            <a:off x="335170" y="164308"/>
            <a:ext cx="36838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+mj-lt"/>
              </a:rPr>
              <a:t>An incomplete diagram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AB239CB-3B9C-4B5C-03BF-14FE964AB6E4}"/>
              </a:ext>
            </a:extLst>
          </p:cNvPr>
          <p:cNvSpPr/>
          <p:nvPr/>
        </p:nvSpPr>
        <p:spPr>
          <a:xfrm>
            <a:off x="335170" y="6149073"/>
            <a:ext cx="1876320" cy="4073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Code Review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493AFD0C-58D8-1DE5-3C08-10A2D9A57835}"/>
              </a:ext>
            </a:extLst>
          </p:cNvPr>
          <p:cNvCxnSpPr>
            <a:cxnSpLocks/>
          </p:cNvCxnSpPr>
          <p:nvPr/>
        </p:nvCxnSpPr>
        <p:spPr>
          <a:xfrm flipV="1">
            <a:off x="2211490" y="5215436"/>
            <a:ext cx="1153471" cy="113732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1F6472F-593C-24BA-3957-B7D30C63C59F}"/>
              </a:ext>
            </a:extLst>
          </p:cNvPr>
          <p:cNvSpPr/>
          <p:nvPr/>
        </p:nvSpPr>
        <p:spPr>
          <a:xfrm>
            <a:off x="335171" y="1049597"/>
            <a:ext cx="1876318" cy="3617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Consistency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9A9D86F4-B007-5DF1-B509-2EBD70723F84}"/>
              </a:ext>
            </a:extLst>
          </p:cNvPr>
          <p:cNvCxnSpPr>
            <a:cxnSpLocks/>
            <a:stCxn id="18" idx="3"/>
            <a:endCxn id="9" idx="0"/>
          </p:cNvCxnSpPr>
          <p:nvPr/>
        </p:nvCxnSpPr>
        <p:spPr>
          <a:xfrm>
            <a:off x="2211489" y="1230460"/>
            <a:ext cx="3053336" cy="11176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xplosion: 8 Points 22">
            <a:extLst>
              <a:ext uri="{FF2B5EF4-FFF2-40B4-BE49-F238E27FC236}">
                <a16:creationId xmlns:a16="http://schemas.microsoft.com/office/drawing/2014/main" id="{6E80B66D-532B-ADD2-9629-7AF7B90F7F80}"/>
              </a:ext>
            </a:extLst>
          </p:cNvPr>
          <p:cNvSpPr/>
          <p:nvPr/>
        </p:nvSpPr>
        <p:spPr>
          <a:xfrm>
            <a:off x="4318525" y="5491925"/>
            <a:ext cx="2004142" cy="1250463"/>
          </a:xfrm>
          <a:prstGeom prst="irregularSeal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bounds checks</a:t>
            </a:r>
          </a:p>
        </p:txBody>
      </p:sp>
      <p:sp>
        <p:nvSpPr>
          <p:cNvPr id="24" name="Explosion: 8 Points 23">
            <a:extLst>
              <a:ext uri="{FF2B5EF4-FFF2-40B4-BE49-F238E27FC236}">
                <a16:creationId xmlns:a16="http://schemas.microsoft.com/office/drawing/2014/main" id="{476F502B-7E09-9A75-24D2-1BB7E458F2B3}"/>
              </a:ext>
            </a:extLst>
          </p:cNvPr>
          <p:cNvSpPr/>
          <p:nvPr/>
        </p:nvSpPr>
        <p:spPr>
          <a:xfrm>
            <a:off x="6975269" y="5491925"/>
            <a:ext cx="1553537" cy="1064521"/>
          </a:xfrm>
          <a:prstGeom prst="irregularSeal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proofs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85636BEE-757A-E0BE-FAF7-F7AC70755E89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6415106" y="2599937"/>
            <a:ext cx="1196889" cy="3573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A003A6DF-A727-BF34-7ACA-FCE5D608040C}"/>
              </a:ext>
            </a:extLst>
          </p:cNvPr>
          <p:cNvCxnSpPr>
            <a:stCxn id="51" idx="3"/>
            <a:endCxn id="10" idx="1"/>
          </p:cNvCxnSpPr>
          <p:nvPr/>
        </p:nvCxnSpPr>
        <p:spPr>
          <a:xfrm flipV="1">
            <a:off x="6415106" y="2957257"/>
            <a:ext cx="1196889" cy="33701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4FF9487A-8137-2FF7-7097-F61D2394A3D2}"/>
              </a:ext>
            </a:extLst>
          </p:cNvPr>
          <p:cNvCxnSpPr>
            <a:stCxn id="10" idx="2"/>
            <a:endCxn id="19" idx="0"/>
          </p:cNvCxnSpPr>
          <p:nvPr/>
        </p:nvCxnSpPr>
        <p:spPr>
          <a:xfrm rot="5400000">
            <a:off x="7071963" y="3085335"/>
            <a:ext cx="624929" cy="2123517"/>
          </a:xfrm>
          <a:prstGeom prst="bentConnector3">
            <a:avLst>
              <a:gd name="adj1" fmla="val 3154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407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DC48A-0D60-7A10-F4C6-99BA7D06D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D8D5B-FE49-F211-7FB5-EB0CC215A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58" y="232911"/>
            <a:ext cx="7099881" cy="997078"/>
          </a:xfrm>
        </p:spPr>
        <p:txBody>
          <a:bodyPr>
            <a:normAutofit/>
          </a:bodyPr>
          <a:lstStyle/>
          <a:p>
            <a:r>
              <a:rPr lang="en-US"/>
              <a:t>What is stopping us?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A5B84-5CE3-34AC-49F9-BECDEE9EC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4E0BE7-4068-3021-3700-6A661C63163B}"/>
              </a:ext>
            </a:extLst>
          </p:cNvPr>
          <p:cNvSpPr txBox="1"/>
          <p:nvPr/>
        </p:nvSpPr>
        <p:spPr>
          <a:xfrm>
            <a:off x="174858" y="856357"/>
            <a:ext cx="12017142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/>
              <a:t>Just</a:t>
            </a:r>
            <a:r>
              <a:rPr lang="en-US" sz="2400"/>
              <a:t> right good™ code? </a:t>
            </a:r>
            <a:r>
              <a:rPr lang="en-US" sz="2400" b="1"/>
              <a:t>Wait</a:t>
            </a:r>
            <a:r>
              <a:rPr lang="en-US" sz="2400"/>
              <a:t>, what does good code look like?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The answer may vary....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C++ serves many domains and developers, so it avoids prescribing a single way of doing things.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It favors flexibility and sometimes even </a:t>
            </a:r>
            <a:r>
              <a:rPr lang="en-US" sz="2400" b="1"/>
              <a:t>safety</a:t>
            </a:r>
            <a:r>
              <a:rPr lang="en-US" sz="2400"/>
              <a:t>! over enforcing a programming style, mostly for the sake of </a:t>
            </a:r>
            <a:r>
              <a:rPr lang="en-US" sz="2400" b="1"/>
              <a:t>performance</a:t>
            </a:r>
            <a:r>
              <a:rPr lang="en-US" sz="240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C++ views backwards compatibility an important </a:t>
            </a:r>
            <a:r>
              <a:rPr lang="en-US" sz="2400" b="1"/>
              <a:t>asset</a:t>
            </a:r>
            <a:r>
              <a:rPr lang="en-US" sz="2400"/>
              <a:t>. </a:t>
            </a:r>
          </a:p>
          <a:p>
            <a:r>
              <a:rPr lang="en-US" sz="2400"/>
              <a:t>     But it has also become known for being the language that has:</a:t>
            </a:r>
          </a:p>
          <a:p>
            <a:r>
              <a:rPr lang="en-US" sz="2400"/>
              <a:t>   				</a:t>
            </a:r>
            <a:r>
              <a:rPr lang="en-US" sz="2400" b="1"/>
              <a:t>the wrong defaults</a:t>
            </a:r>
            <a:r>
              <a:rPr lang="en-US" sz="2400"/>
              <a:t>™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065009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37E9B-2C27-2C4E-5A9F-6AF56900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82367-58CA-6F2E-48C9-851C6A89F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58" y="232911"/>
            <a:ext cx="7099881" cy="997078"/>
          </a:xfrm>
        </p:spPr>
        <p:txBody>
          <a:bodyPr>
            <a:normAutofit/>
          </a:bodyPr>
          <a:lstStyle/>
          <a:p>
            <a:r>
              <a:rPr lang="en-US"/>
              <a:t>common headaches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89B16-1EC0-6BDA-6B58-5CD186DF2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A39DAD-2B02-6EA4-98A9-9DBA2A1E0AC7}"/>
              </a:ext>
            </a:extLst>
          </p:cNvPr>
          <p:cNvSpPr txBox="1"/>
          <p:nvPr/>
        </p:nvSpPr>
        <p:spPr>
          <a:xfrm>
            <a:off x="344789" y="1626499"/>
            <a:ext cx="11080585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manual memory (resource)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globally defines types and variables (un-scoped </a:t>
            </a:r>
            <a:r>
              <a:rPr lang="en-US" sz="2400" err="1"/>
              <a:t>enums</a:t>
            </a:r>
            <a:r>
              <a:rPr lang="en-US" sz="240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non-virtual destructors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unsafe access by default (unchecked boundaries)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implicit conversions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interestingly: in C++ “</a:t>
            </a:r>
            <a:r>
              <a:rPr lang="en-US" sz="2400" b="1"/>
              <a:t>default initialization</a:t>
            </a:r>
            <a:r>
              <a:rPr lang="en-US" sz="2400"/>
              <a:t>” means “</a:t>
            </a:r>
            <a:r>
              <a:rPr lang="en-US" sz="2400" b="1"/>
              <a:t>no initialization</a:t>
            </a:r>
            <a:r>
              <a:rPr lang="en-US" sz="2400"/>
              <a:t>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lack of </a:t>
            </a:r>
            <a:r>
              <a:rPr lang="en-US" sz="2400" b="1"/>
              <a:t>const</a:t>
            </a:r>
            <a:r>
              <a:rPr lang="en-US" sz="2400"/>
              <a:t> member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mutable variables (arguments, locals and members) that never change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discarded return values (no error checking)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unscoped standard library classes, like thread and mutex (fixed by </a:t>
            </a:r>
            <a:r>
              <a:rPr lang="en-US" sz="2400" b="1"/>
              <a:t>std::jthread</a:t>
            </a:r>
            <a:r>
              <a:rPr lang="en-US" sz="2400"/>
              <a:t> and std::lock_guard)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0F43F4-9C90-EBCA-3738-8FADD3BECC07}"/>
              </a:ext>
            </a:extLst>
          </p:cNvPr>
          <p:cNvSpPr txBox="1"/>
          <p:nvPr/>
        </p:nvSpPr>
        <p:spPr>
          <a:xfrm>
            <a:off x="1901628" y="6109487"/>
            <a:ext cx="7492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Most have to do with Lifetime, Scope and Lack of local Reasoning.</a:t>
            </a:r>
          </a:p>
        </p:txBody>
      </p:sp>
    </p:spTree>
    <p:extLst>
      <p:ext uri="{BB962C8B-B14F-4D97-AF65-F5344CB8AC3E}">
        <p14:creationId xmlns:p14="http://schemas.microsoft.com/office/powerpoint/2010/main" val="3999223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E3FFA8-BAD6-A7D1-882E-A753CE6C4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A8EDB9-85EE-AB4D-9FB5-17D415E7B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182" y="0"/>
            <a:ext cx="8345636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11EAFE-F8B5-29EA-0A21-49279519C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7440" y="3212536"/>
            <a:ext cx="1994038" cy="25217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430862-C6A6-D9BC-59CA-2216B9B2B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1623" y="2821219"/>
            <a:ext cx="4563971" cy="385348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75F0D35-935C-889C-C796-F79FCDAC41F1}"/>
              </a:ext>
            </a:extLst>
          </p:cNvPr>
          <p:cNvSpPr txBox="1"/>
          <p:nvPr/>
        </p:nvSpPr>
        <p:spPr>
          <a:xfrm>
            <a:off x="7627441" y="2821219"/>
            <a:ext cx="1994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Lieven de Cock</a:t>
            </a:r>
          </a:p>
        </p:txBody>
      </p:sp>
    </p:spTree>
    <p:extLst>
      <p:ext uri="{BB962C8B-B14F-4D97-AF65-F5344CB8AC3E}">
        <p14:creationId xmlns:p14="http://schemas.microsoft.com/office/powerpoint/2010/main" val="3725339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16DED-DEA1-6E64-8A67-D6B1C8FE0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143666-403D-FC28-9470-A534CAF73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5AEB38-4415-4BBA-9EF9-944B96357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56" y="347957"/>
            <a:ext cx="7098383" cy="605274"/>
          </a:xfrm>
        </p:spPr>
        <p:txBody>
          <a:bodyPr>
            <a:noAutofit/>
          </a:bodyPr>
          <a:lstStyle/>
          <a:p>
            <a:r>
              <a:rPr lang="en-US" sz="2400"/>
              <a:t>Where to find good defaults?</a:t>
            </a:r>
            <a:endParaRPr lang="en-ZA" sz="2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E41F8-6313-53CA-7364-5D026498608F}"/>
              </a:ext>
            </a:extLst>
          </p:cNvPr>
          <p:cNvSpPr txBox="1">
            <a:spLocks/>
          </p:cNvSpPr>
          <p:nvPr/>
        </p:nvSpPr>
        <p:spPr>
          <a:xfrm>
            <a:off x="248556" y="1219551"/>
            <a:ext cx="10052605" cy="20819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n-US" sz="3600"/>
              <a:t>Company guidelines (often domain specific)</a:t>
            </a:r>
          </a:p>
          <a:p>
            <a:pPr marL="457200" indent="-457200"/>
            <a:r>
              <a:rPr lang="en-US" sz="3600"/>
              <a:t>C++ Core Guidelines (1104? and counting)</a:t>
            </a:r>
          </a:p>
          <a:p>
            <a:pPr marL="457200" indent="-457200"/>
            <a:r>
              <a:rPr lang="en-US" sz="3600"/>
              <a:t>Experience</a:t>
            </a:r>
          </a:p>
        </p:txBody>
      </p:sp>
    </p:spTree>
    <p:extLst>
      <p:ext uri="{BB962C8B-B14F-4D97-AF65-F5344CB8AC3E}">
        <p14:creationId xmlns:p14="http://schemas.microsoft.com/office/powerpoint/2010/main" val="1828832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A4A85-C835-1960-BDB1-137BDECA1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EADB9A-BC2D-F962-5E4B-825951DBE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660DDF-2EAA-6F51-78FE-93F3A0172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453" y="1128712"/>
            <a:ext cx="9316750" cy="362953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8ADA98B-D7A4-5BAB-97B3-F0D1A4BC3D78}"/>
              </a:ext>
            </a:extLst>
          </p:cNvPr>
          <p:cNvCxnSpPr/>
          <p:nvPr/>
        </p:nvCxnSpPr>
        <p:spPr>
          <a:xfrm>
            <a:off x="2451887" y="1828800"/>
            <a:ext cx="42564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45893E2-47C6-4AA0-CB38-D6DDA5EEA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198" y="5022712"/>
            <a:ext cx="3801005" cy="49536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66451B-648D-7E9C-CB3F-B3989F73A2AB}"/>
              </a:ext>
            </a:extLst>
          </p:cNvPr>
          <p:cNvCxnSpPr>
            <a:cxnSpLocks/>
          </p:cNvCxnSpPr>
          <p:nvPr/>
        </p:nvCxnSpPr>
        <p:spPr>
          <a:xfrm>
            <a:off x="2136296" y="2257678"/>
            <a:ext cx="25651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0986A8F4-6E92-1BA5-1B3E-7AC50C1E5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453" y="250727"/>
            <a:ext cx="7098383" cy="605274"/>
          </a:xfrm>
        </p:spPr>
        <p:txBody>
          <a:bodyPr>
            <a:noAutofit/>
          </a:bodyPr>
          <a:lstStyle/>
          <a:p>
            <a:r>
              <a:rPr lang="en-US" sz="2400"/>
              <a:t>Quote from the C++ Core Guidelines:</a:t>
            </a:r>
          </a:p>
        </p:txBody>
      </p:sp>
      <p:sp>
        <p:nvSpPr>
          <p:cNvPr id="10" name="Explosion: 8 Points 9">
            <a:extLst>
              <a:ext uri="{FF2B5EF4-FFF2-40B4-BE49-F238E27FC236}">
                <a16:creationId xmlns:a16="http://schemas.microsoft.com/office/drawing/2014/main" id="{60B095FD-421C-1E38-FC75-95D49D4F340F}"/>
              </a:ext>
            </a:extLst>
          </p:cNvPr>
          <p:cNvSpPr/>
          <p:nvPr/>
        </p:nvSpPr>
        <p:spPr>
          <a:xfrm>
            <a:off x="9169921" y="1982548"/>
            <a:ext cx="1074596" cy="671639"/>
          </a:xfrm>
          <a:prstGeom prst="irregularSeal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F7273B-E97B-E4C6-1346-76E526707E7A}"/>
              </a:ext>
            </a:extLst>
          </p:cNvPr>
          <p:cNvCxnSpPr>
            <a:cxnSpLocks/>
          </p:cNvCxnSpPr>
          <p:nvPr/>
        </p:nvCxnSpPr>
        <p:spPr>
          <a:xfrm>
            <a:off x="2136296" y="2588103"/>
            <a:ext cx="427259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Explosion: 8 Points 14">
            <a:extLst>
              <a:ext uri="{FF2B5EF4-FFF2-40B4-BE49-F238E27FC236}">
                <a16:creationId xmlns:a16="http://schemas.microsoft.com/office/drawing/2014/main" id="{FC7E64DD-C08B-7D06-D847-CEC885846B01}"/>
              </a:ext>
            </a:extLst>
          </p:cNvPr>
          <p:cNvSpPr/>
          <p:nvPr/>
        </p:nvSpPr>
        <p:spPr>
          <a:xfrm>
            <a:off x="6850970" y="4013175"/>
            <a:ext cx="1074596" cy="671639"/>
          </a:xfrm>
          <a:prstGeom prst="irregularSeal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2711632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F7D31-BCD6-0013-FD82-CFBA43ED5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CFF6B2-1C0C-7FF3-2D9E-AFCB9DEAD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1F8AB-2BF7-3A0D-DF15-555B81887288}"/>
              </a:ext>
            </a:extLst>
          </p:cNvPr>
          <p:cNvSpPr txBox="1"/>
          <p:nvPr/>
        </p:nvSpPr>
        <p:spPr>
          <a:xfrm>
            <a:off x="1381713" y="1093371"/>
            <a:ext cx="980957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I did not invent new guidelines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They were </a:t>
            </a:r>
            <a:r>
              <a:rPr lang="en-US" sz="2800" b="1"/>
              <a:t>gathered</a:t>
            </a:r>
            <a:r>
              <a:rPr lang="en-US" sz="2800"/>
              <a:t> from existing material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/>
              <a:t>filtered </a:t>
            </a:r>
            <a:r>
              <a:rPr lang="en-US" sz="2800"/>
              <a:t>for clarity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/>
              <a:t>simplified</a:t>
            </a:r>
            <a:r>
              <a:rPr lang="en-US" sz="2800"/>
              <a:t>  to be practical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/>
              <a:t>prioritized</a:t>
            </a:r>
            <a:r>
              <a:rPr lang="en-US" sz="2800"/>
              <a:t> to set defaults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Simplification makes them more accessible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Prioritization gives ready-to-use</a:t>
            </a:r>
            <a:r>
              <a:rPr lang="en-US" sz="2800" b="1"/>
              <a:t> defaults</a:t>
            </a:r>
            <a:endParaRPr lang="en-US" sz="2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6943014-764C-49C9-B87D-02697461F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453" y="250727"/>
            <a:ext cx="7098383" cy="605274"/>
          </a:xfrm>
        </p:spPr>
        <p:txBody>
          <a:bodyPr>
            <a:noAutofit/>
          </a:bodyPr>
          <a:lstStyle/>
          <a:p>
            <a:r>
              <a:rPr lang="en-US" sz="2400"/>
              <a:t>let’s create a small set of weak rules!</a:t>
            </a:r>
          </a:p>
        </p:txBody>
      </p:sp>
    </p:spTree>
    <p:extLst>
      <p:ext uri="{BB962C8B-B14F-4D97-AF65-F5344CB8AC3E}">
        <p14:creationId xmlns:p14="http://schemas.microsoft.com/office/powerpoint/2010/main" val="1586608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DD299-C579-CF2B-94A2-829209456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1F462-0874-6934-8C5B-0DF407D90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32246-A80B-E6A9-F54E-A45A20FD6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5901" y="178025"/>
            <a:ext cx="7098383" cy="605274"/>
          </a:xfrm>
        </p:spPr>
        <p:txBody>
          <a:bodyPr>
            <a:noAutofit/>
          </a:bodyPr>
          <a:lstStyle/>
          <a:p>
            <a:r>
              <a:rPr lang="en-US" sz="2400"/>
              <a:t>C++ DEFAULT Guidelines </a:t>
            </a:r>
            <a:endParaRPr lang="en-ZA" sz="2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B3A8E-81DD-0E0E-52D6-B2E9C3426F7A}"/>
              </a:ext>
            </a:extLst>
          </p:cNvPr>
          <p:cNvSpPr txBox="1">
            <a:spLocks/>
          </p:cNvSpPr>
          <p:nvPr/>
        </p:nvSpPr>
        <p:spPr>
          <a:xfrm>
            <a:off x="413415" y="1387462"/>
            <a:ext cx="10554760" cy="329782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/>
              <a:t>These </a:t>
            </a:r>
            <a:r>
              <a:rPr lang="en-US" b="1"/>
              <a:t>defaults</a:t>
            </a:r>
            <a:r>
              <a:rPr lang="en-US"/>
              <a:t> are an </a:t>
            </a:r>
            <a:r>
              <a:rPr lang="en-US" u="sng"/>
              <a:t>ordered</a:t>
            </a:r>
            <a:r>
              <a:rPr lang="en-US"/>
              <a:t> subset of common </a:t>
            </a:r>
            <a:r>
              <a:rPr lang="en-US" u="sng"/>
              <a:t>Guidelines</a:t>
            </a:r>
            <a:r>
              <a:rPr lang="en-US"/>
              <a:t> that I use on daily basis.</a:t>
            </a:r>
          </a:p>
          <a:p>
            <a:pPr marL="342900" indent="-342900"/>
            <a:endParaRPr lang="en-US"/>
          </a:p>
          <a:p>
            <a:pPr marL="342900" indent="-342900"/>
            <a:r>
              <a:rPr lang="en-US"/>
              <a:t>You </a:t>
            </a:r>
            <a:r>
              <a:rPr lang="en-US" b="1"/>
              <a:t>do not </a:t>
            </a:r>
            <a:r>
              <a:rPr lang="en-US"/>
              <a:t>necessary need use </a:t>
            </a:r>
            <a:r>
              <a:rPr lang="en-US" b="1"/>
              <a:t>this set </a:t>
            </a:r>
            <a:r>
              <a:rPr lang="en-US"/>
              <a:t>of </a:t>
            </a:r>
            <a:r>
              <a:rPr lang="en-US" b="1"/>
              <a:t>defaults</a:t>
            </a:r>
            <a:r>
              <a:rPr lang="en-US"/>
              <a:t>, the important thing is to </a:t>
            </a:r>
            <a:r>
              <a:rPr lang="en-US" b="1"/>
              <a:t>have</a:t>
            </a:r>
            <a:r>
              <a:rPr lang="en-US"/>
              <a:t> a set of defaults</a:t>
            </a:r>
          </a:p>
          <a:p>
            <a:pPr marL="342900" indent="-342900"/>
            <a:endParaRPr lang="en-US"/>
          </a:p>
          <a:p>
            <a:pPr marL="342900" indent="-342900"/>
            <a:r>
              <a:rPr lang="en-US"/>
              <a:t>Guidelines are </a:t>
            </a:r>
            <a:r>
              <a:rPr lang="en-US" u="sng"/>
              <a:t>not</a:t>
            </a:r>
            <a:r>
              <a:rPr lang="en-US"/>
              <a:t> hard Rules, use them </a:t>
            </a:r>
            <a:r>
              <a:rPr lang="en-US" u="sng"/>
              <a:t>responsibly</a:t>
            </a:r>
            <a:r>
              <a:rPr lang="en-US"/>
              <a:t>!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E566C1-F6E9-1F3F-3867-AD5330771D6A}"/>
              </a:ext>
            </a:extLst>
          </p:cNvPr>
          <p:cNvSpPr txBox="1"/>
          <p:nvPr/>
        </p:nvSpPr>
        <p:spPr>
          <a:xfrm>
            <a:off x="1335186" y="3571421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47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8045E-0D55-C4D6-9A14-C4DB040A7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ABBAA-1D71-87B4-8A40-0F8D33A69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58" y="232911"/>
            <a:ext cx="7099881" cy="997078"/>
          </a:xfrm>
        </p:spPr>
        <p:txBody>
          <a:bodyPr>
            <a:normAutofit/>
          </a:bodyPr>
          <a:lstStyle/>
          <a:p>
            <a:r>
              <a:rPr lang="en-US"/>
              <a:t>Guidelines, not rules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A1FC79-E3E8-518F-25CC-44A160559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1CB270-0182-65A1-B60E-E6AAA192A153}"/>
              </a:ext>
            </a:extLst>
          </p:cNvPr>
          <p:cNvSpPr txBox="1"/>
          <p:nvPr/>
        </p:nvSpPr>
        <p:spPr>
          <a:xfrm>
            <a:off x="174857" y="1229989"/>
            <a:ext cx="10029199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If you can use a default, use 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If the default does not seem fitting, </a:t>
            </a:r>
            <a:r>
              <a:rPr lang="en-US" sz="2400" u="sng" dirty="0"/>
              <a:t>that is great</a:t>
            </a:r>
            <a:r>
              <a:rPr lang="en-US" sz="2400" dirty="0"/>
              <a:t>, because that means that you already are thinking about the problem!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When you are not following the defaults, it might be a great time to: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introduce a </a:t>
            </a:r>
            <a:r>
              <a:rPr lang="en-US" sz="2400" b="1" dirty="0"/>
              <a:t>function</a:t>
            </a:r>
            <a:r>
              <a:rPr lang="en-US" sz="2400" dirty="0"/>
              <a:t> whose name explains </a:t>
            </a:r>
            <a:r>
              <a:rPr lang="en-US" sz="2400" b="1" dirty="0"/>
              <a:t>what </a:t>
            </a:r>
            <a:r>
              <a:rPr lang="en-US" sz="2400" dirty="0"/>
              <a:t>is happening.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add a </a:t>
            </a:r>
            <a:r>
              <a:rPr lang="en-US" sz="2400" b="1" dirty="0"/>
              <a:t>comment</a:t>
            </a:r>
            <a:r>
              <a:rPr lang="en-US" sz="2400" dirty="0"/>
              <a:t> explaining </a:t>
            </a:r>
            <a:r>
              <a:rPr lang="en-US" sz="2400" b="1" dirty="0"/>
              <a:t>why</a:t>
            </a:r>
            <a:r>
              <a:rPr lang="en-US" sz="2400" dirty="0"/>
              <a:t> you decided to deviate.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u="sng" dirty="0"/>
          </a:p>
        </p:txBody>
      </p:sp>
    </p:spTree>
    <p:extLst>
      <p:ext uri="{BB962C8B-B14F-4D97-AF65-F5344CB8AC3E}">
        <p14:creationId xmlns:p14="http://schemas.microsoft.com/office/powerpoint/2010/main" val="2660041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3F000B0-950A-3F84-79D2-C478DB51D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19EF41-2086-C830-88F7-3E420734F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43BF84-D08D-DA3F-F198-1BCC08591A6E}"/>
              </a:ext>
            </a:extLst>
          </p:cNvPr>
          <p:cNvSpPr txBox="1"/>
          <p:nvPr/>
        </p:nvSpPr>
        <p:spPr>
          <a:xfrm>
            <a:off x="436970" y="199369"/>
            <a:ext cx="1045491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438912">
              <a:buFont typeface="+mj-lt"/>
              <a:buAutoNum type="arabicPeriod"/>
            </a:pPr>
            <a:r>
              <a:rPr lang="en-US" sz="2000" b="1" dirty="0"/>
              <a:t>Turn on warnings! and use sanitizers </a:t>
            </a:r>
          </a:p>
          <a:p>
            <a:pPr marL="800100" lvl="1" indent="-438912">
              <a:buFont typeface="+mj-lt"/>
              <a:buAutoNum type="arabicPeriod"/>
            </a:pPr>
            <a:r>
              <a:rPr lang="en-US" sz="2000" dirty="0"/>
              <a:t>No raw loops</a:t>
            </a:r>
          </a:p>
          <a:p>
            <a:pPr marL="800100" lvl="1" indent="-438912">
              <a:buFont typeface="+mj-lt"/>
              <a:buAutoNum type="arabicPeriod"/>
            </a:pPr>
            <a:r>
              <a:rPr lang="en-US" sz="2000" dirty="0"/>
              <a:t>Avoid global mutable state </a:t>
            </a:r>
          </a:p>
          <a:p>
            <a:pPr marL="800100" lvl="1" indent="-438912">
              <a:buFont typeface="+mj-lt"/>
              <a:buAutoNum type="arabicPeriod"/>
            </a:pPr>
            <a:r>
              <a:rPr lang="en-US" sz="2000" dirty="0"/>
              <a:t>Keep the scope of variables and type declarations as limited as possible</a:t>
            </a:r>
          </a:p>
          <a:p>
            <a:pPr marL="800100" lvl="1" indent="-438912">
              <a:buFont typeface="+mj-lt"/>
              <a:buAutoNum type="arabicPeriod"/>
            </a:pPr>
            <a:r>
              <a:rPr lang="en-US" sz="2000" dirty="0"/>
              <a:t>Initialize all variables at declaration </a:t>
            </a:r>
          </a:p>
          <a:p>
            <a:pPr marL="800100" lvl="1" indent="-438912">
              <a:buFont typeface="+mj-lt"/>
              <a:buAutoNum type="arabicPeriod"/>
            </a:pPr>
            <a:r>
              <a:rPr lang="en-US" sz="2000" dirty="0"/>
              <a:t>Use const whenever you can </a:t>
            </a:r>
          </a:p>
          <a:p>
            <a:pPr marL="800100" lvl="1" indent="-438912">
              <a:buFont typeface="+mj-lt"/>
              <a:buAutoNum type="arabicPeriod"/>
            </a:pPr>
            <a:r>
              <a:rPr lang="en-US" sz="2000" dirty="0"/>
              <a:t>Use [[</a:t>
            </a:r>
            <a:r>
              <a:rPr lang="en-US" sz="2000" dirty="0" err="1"/>
              <a:t>nodiscard</a:t>
            </a:r>
            <a:r>
              <a:rPr lang="en-US" sz="2000" dirty="0"/>
              <a:t>]] for all const member functions returning a value</a:t>
            </a:r>
          </a:p>
          <a:p>
            <a:pPr marL="800100" lvl="1" indent="-438912">
              <a:buFont typeface="+mj-lt"/>
              <a:buAutoNum type="arabicPeriod"/>
            </a:pPr>
            <a:r>
              <a:rPr lang="en-US" sz="2000" dirty="0"/>
              <a:t>Avoid returning values using arguments</a:t>
            </a:r>
          </a:p>
          <a:p>
            <a:pPr marL="800100" lvl="1" indent="-438912">
              <a:buFont typeface="+mj-lt"/>
              <a:buAutoNum type="arabicPeriod"/>
            </a:pPr>
            <a:r>
              <a:rPr lang="en-US" sz="2000" dirty="0"/>
              <a:t>Use automatic resource management (RAII)</a:t>
            </a:r>
          </a:p>
          <a:p>
            <a:pPr marL="800100" lvl="1" indent="-438912">
              <a:buFont typeface="+mj-lt"/>
              <a:buAutoNum type="arabicPeriod"/>
            </a:pPr>
            <a:r>
              <a:rPr lang="en-US" sz="2000" dirty="0"/>
              <a:t>Follow the rule of 0 or the rule of 5 in that order</a:t>
            </a:r>
          </a:p>
          <a:p>
            <a:pPr marL="800100" lvl="1" indent="-438912">
              <a:buFont typeface="+mj-lt"/>
              <a:buAutoNum type="arabicPeriod"/>
            </a:pPr>
            <a:r>
              <a:rPr lang="en-US" sz="2000" dirty="0"/>
              <a:t>Avoid owning raw pointers</a:t>
            </a:r>
          </a:p>
          <a:p>
            <a:pPr marL="800100" lvl="1" indent="-438912">
              <a:buFont typeface="+mj-lt"/>
              <a:buAutoNum type="arabicPeriod"/>
            </a:pPr>
            <a:r>
              <a:rPr lang="en-US" sz="2000" dirty="0"/>
              <a:t>Avoid manual memory management using new, delete, malloc, free,...</a:t>
            </a:r>
          </a:p>
          <a:p>
            <a:pPr marL="800100" lvl="1" indent="-438912">
              <a:buFont typeface="+mj-lt"/>
              <a:buAutoNum type="arabicPeriod"/>
            </a:pPr>
            <a:r>
              <a:rPr lang="en-US" sz="2000" dirty="0"/>
              <a:t>Do not use C-style casts</a:t>
            </a:r>
          </a:p>
          <a:p>
            <a:pPr marL="800100" lvl="1" indent="-438912">
              <a:buFont typeface="+mj-lt"/>
              <a:buAutoNum type="arabicPeriod"/>
            </a:pPr>
            <a:r>
              <a:rPr lang="en-US" sz="2000" dirty="0"/>
              <a:t>Do not add member variables to classes that are used as interfaces</a:t>
            </a:r>
          </a:p>
          <a:p>
            <a:pPr marL="800100" lvl="1" indent="-438912">
              <a:buFont typeface="+mj-lt"/>
              <a:buAutoNum type="arabicPeriod"/>
            </a:pPr>
            <a:r>
              <a:rPr lang="en-US" sz="2000" dirty="0"/>
              <a:t>Do not use protected member variables.</a:t>
            </a:r>
          </a:p>
          <a:p>
            <a:pPr marL="800100" lvl="1" indent="-438912">
              <a:buFont typeface="+mj-lt"/>
              <a:buAutoNum type="arabicPeriod"/>
            </a:pPr>
            <a:r>
              <a:rPr lang="en-US" sz="2000" dirty="0"/>
              <a:t>Avoid the use of volatile, </a:t>
            </a:r>
            <a:r>
              <a:rPr lang="en-US" sz="2000" dirty="0" err="1"/>
              <a:t>const_cast</a:t>
            </a:r>
            <a:r>
              <a:rPr lang="en-US" sz="2000" dirty="0"/>
              <a:t>, </a:t>
            </a:r>
            <a:r>
              <a:rPr lang="en-US" sz="2000" dirty="0" err="1"/>
              <a:t>reinterpret_cast</a:t>
            </a:r>
            <a:r>
              <a:rPr lang="en-US" sz="2000" dirty="0"/>
              <a:t>, typedef, register, extern, protected and </a:t>
            </a:r>
            <a:r>
              <a:rPr lang="en-US" sz="2000" dirty="0" err="1"/>
              <a:t>va_arg</a:t>
            </a:r>
            <a:endParaRPr lang="en-US" sz="2000" dirty="0"/>
          </a:p>
          <a:p>
            <a:pPr marL="800100" lvl="1" indent="-438912">
              <a:buFont typeface="+mj-lt"/>
              <a:buAutoNum type="arabicPeriod"/>
            </a:pPr>
            <a:r>
              <a:rPr lang="en-US" sz="2000" dirty="0"/>
              <a:t>Make all destructors of classes used in runtime polymorphism virtual</a:t>
            </a:r>
          </a:p>
          <a:p>
            <a:pPr marL="800100" lvl="1" indent="-438912">
              <a:buFont typeface="+mj-lt"/>
              <a:buAutoNum type="arabicPeriod"/>
            </a:pPr>
            <a:r>
              <a:rPr lang="en-US" sz="2000" dirty="0"/>
              <a:t>Avoid references as data members of a class</a:t>
            </a:r>
          </a:p>
        </p:txBody>
      </p:sp>
    </p:spTree>
    <p:extLst>
      <p:ext uri="{BB962C8B-B14F-4D97-AF65-F5344CB8AC3E}">
        <p14:creationId xmlns:p14="http://schemas.microsoft.com/office/powerpoint/2010/main" val="3215872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B8373-B7C4-E8D8-7B17-FC2F74871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02" y="208289"/>
            <a:ext cx="114300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1. Turn on warnings! </a:t>
            </a:r>
            <a:br>
              <a:rPr lang="en-US" dirty="0"/>
            </a:br>
            <a:r>
              <a:rPr lang="en-US" dirty="0"/>
              <a:t>and use sanitizers </a:t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179311-D43F-6F12-81CF-F57BE3578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F2C8C5-CAD4-77BF-8147-A67796D44EEB}"/>
              </a:ext>
            </a:extLst>
          </p:cNvPr>
          <p:cNvSpPr txBox="1"/>
          <p:nvPr/>
        </p:nvSpPr>
        <p:spPr>
          <a:xfrm>
            <a:off x="252202" y="1484573"/>
            <a:ext cx="3703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 good start ....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B0F505-6F1E-C5DA-E25D-42F16070E6A7}"/>
              </a:ext>
            </a:extLst>
          </p:cNvPr>
          <p:cNvSpPr txBox="1"/>
          <p:nvPr/>
        </p:nvSpPr>
        <p:spPr>
          <a:xfrm>
            <a:off x="252202" y="1929164"/>
            <a:ext cx="9676725" cy="4031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GCC</a:t>
            </a:r>
          </a:p>
          <a:p>
            <a:endParaRPr lang="en-US"/>
          </a:p>
          <a:p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Werror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Wconversion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Wsign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-conversion -Wall -</a:t>
            </a:r>
            <a:r>
              <a:rPr lang="en-US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Wextra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Wpedantic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Wdeprecated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fsanitize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address,undefined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/>
          </a:p>
          <a:p>
            <a:r>
              <a:rPr lang="en-US"/>
              <a:t>Clang</a:t>
            </a:r>
          </a:p>
          <a:p>
            <a:endParaRPr lang="en-US"/>
          </a:p>
          <a:p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Werror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Wconversion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Wsign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-conversion -Wall -</a:t>
            </a:r>
            <a:r>
              <a:rPr lang="en-US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Wextra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Wpedantic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Wdeprecated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fsanitize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address,undefined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sz="1600" b="1"/>
          </a:p>
          <a:p>
            <a:r>
              <a:rPr lang="en-US" sz="1600"/>
              <a:t>MSVC</a:t>
            </a:r>
            <a:r>
              <a:rPr lang="en-US" sz="1600" b="1"/>
              <a:t> </a:t>
            </a:r>
          </a:p>
          <a:p>
            <a:endParaRPr lang="en-US" sz="1600" b="1"/>
          </a:p>
          <a:p>
            <a:r>
              <a:rPr lang="en-US"/>
              <a:t>Just having </a:t>
            </a:r>
            <a:r>
              <a:rPr lang="en-US" b="1"/>
              <a:t>/W3 </a:t>
            </a:r>
            <a:r>
              <a:rPr lang="en-US"/>
              <a:t>is a really good start, but </a:t>
            </a:r>
            <a:r>
              <a:rPr lang="en-US" b="1"/>
              <a:t>/W4 </a:t>
            </a:r>
            <a:r>
              <a:rPr lang="en-US"/>
              <a:t>is even better.</a:t>
            </a:r>
          </a:p>
          <a:p>
            <a:endParaRPr lang="en-US"/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/W4 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81DA83-D43D-D180-0022-094308117D79}"/>
              </a:ext>
            </a:extLst>
          </p:cNvPr>
          <p:cNvSpPr txBox="1"/>
          <p:nvPr/>
        </p:nvSpPr>
        <p:spPr>
          <a:xfrm>
            <a:off x="164177" y="6048490"/>
            <a:ext cx="1151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Notice: we do not have 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Wconversion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Wsign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-conversion</a:t>
            </a:r>
            <a:r>
              <a:rPr lang="en-US"/>
              <a:t> as errors, but for new project they are great.</a:t>
            </a:r>
          </a:p>
        </p:txBody>
      </p:sp>
    </p:spTree>
    <p:extLst>
      <p:ext uri="{BB962C8B-B14F-4D97-AF65-F5344CB8AC3E}">
        <p14:creationId xmlns:p14="http://schemas.microsoft.com/office/powerpoint/2010/main" val="3771214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888B2-3CB7-17E9-35A3-9EBEAED26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1E43C-4245-3643-CFA6-4D46307AC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02" y="208289"/>
            <a:ext cx="11430000" cy="1325563"/>
          </a:xfrm>
        </p:spPr>
        <p:txBody>
          <a:bodyPr>
            <a:normAutofit/>
          </a:bodyPr>
          <a:lstStyle/>
          <a:p>
            <a:r>
              <a:rPr lang="en-US"/>
              <a:t>MOAR WARNINGs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B0C94B-35E2-7330-16E8-8C00E5B9A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FB1CC02-3DD2-2C5B-DA8E-44473568D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091" y="1986827"/>
            <a:ext cx="4020111" cy="31151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D2E19FF-1A90-1483-4562-25D0FDFBEC46}"/>
              </a:ext>
            </a:extLst>
          </p:cNvPr>
          <p:cNvSpPr txBox="1"/>
          <p:nvPr/>
        </p:nvSpPr>
        <p:spPr>
          <a:xfrm>
            <a:off x="384909" y="1074755"/>
            <a:ext cx="822501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GCC and CLANG</a:t>
            </a:r>
          </a:p>
          <a:p>
            <a:endParaRPr lang="en-US"/>
          </a:p>
          <a:p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add_compile_options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-Wall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-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Wextra</a:t>
            </a: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-pedantic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-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Wcast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-align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-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Wformat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=2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-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Wmisleading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-indentation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-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Wmissing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-include-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dirs</a:t>
            </a: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-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Wnull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-dereference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-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Wswitch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-enum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-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Wunused</a:t>
            </a: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-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Wunused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-variable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-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Wunused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-parameter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-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Wvla</a:t>
            </a: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# Warnings that are not allowed in C compilation units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$&lt;$&lt;COMPILE_LANGUAGE:CXX&gt;:-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Wnon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-virtual-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dtor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$&lt;$&lt;COMPILE_LANGUAGE:CXX&gt;:-</a:t>
            </a:r>
            <a:r>
              <a:rPr 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Woverloaded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-virtual&gt;</a:t>
            </a:r>
          </a:p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85933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A586-E6E1-29BC-8018-F4EEE5289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B6233-2C49-9325-5F11-B10DCDC63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02" y="208289"/>
            <a:ext cx="11430000" cy="1325563"/>
          </a:xfrm>
        </p:spPr>
        <p:txBody>
          <a:bodyPr>
            <a:normAutofit/>
          </a:bodyPr>
          <a:lstStyle/>
          <a:p>
            <a:r>
              <a:rPr lang="en-US"/>
              <a:t>MOAR WARNINGs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9FD00-70CD-DD6A-59B5-347880460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EE851-D517-01FC-28CA-D7DB6299E64F}"/>
              </a:ext>
            </a:extLst>
          </p:cNvPr>
          <p:cNvSpPr txBox="1"/>
          <p:nvPr/>
        </p:nvSpPr>
        <p:spPr>
          <a:xfrm>
            <a:off x="252202" y="1355827"/>
            <a:ext cx="1121332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MSVC</a:t>
            </a:r>
          </a:p>
          <a:p>
            <a:endParaRPr lang="en-US"/>
          </a:p>
          <a:p>
            <a:r>
              <a:rPr lang="pl-PL" b="1">
                <a:latin typeface="Courier New" panose="02070309020205020404" pitchFamily="49" charset="0"/>
                <a:cs typeface="Courier New" panose="02070309020205020404" pitchFamily="49" charset="0"/>
              </a:rPr>
              <a:t>/W4 </a:t>
            </a: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l-PL" b="1">
                <a:latin typeface="Courier New" panose="02070309020205020404" pitchFamily="49" charset="0"/>
                <a:cs typeface="Courier New" panose="02070309020205020404" pitchFamily="49" charset="0"/>
              </a:rPr>
              <a:t>/w14242 /w14254 /w14263 /w14265 /w14287 /w14289 /w14296 /w14311 /w14545 /w14546 </a:t>
            </a: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l-PL" b="1">
                <a:latin typeface="Courier New" panose="02070309020205020404" pitchFamily="49" charset="0"/>
                <a:cs typeface="Courier New" panose="02070309020205020404" pitchFamily="49" charset="0"/>
              </a:rPr>
              <a:t>/w14547 /w14549 /w14555 /w14640 /w14826 /w14905 /w14906 /w14928</a:t>
            </a: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3061DE-7100-CB2C-9A2D-AA35D32D0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995" y="3066582"/>
            <a:ext cx="4020111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281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A5032-8ED1-9B83-6922-54B1A4F4D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75A59-F445-38D9-50E6-806333FDC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02" y="208289"/>
            <a:ext cx="11430000" cy="1325563"/>
          </a:xfrm>
        </p:spPr>
        <p:txBody>
          <a:bodyPr>
            <a:normAutofit/>
          </a:bodyPr>
          <a:lstStyle/>
          <a:p>
            <a:r>
              <a:rPr lang="en-US"/>
              <a:t>dealing with existing warnings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3BF1C-34E9-7AC2-35EC-0A2FF5ADB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294FE6-481F-7D82-D52E-97F0A21FBB9D}"/>
              </a:ext>
            </a:extLst>
          </p:cNvPr>
          <p:cNvSpPr txBox="1"/>
          <p:nvPr/>
        </p:nvSpPr>
        <p:spPr>
          <a:xfrm>
            <a:off x="453154" y="2764101"/>
            <a:ext cx="923503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sz="4400" b="1" i="0">
                <a:solidFill>
                  <a:srgbClr val="1F2328"/>
                </a:solidFill>
                <a:effectLst/>
                <a:latin typeface="ui-monospace"/>
              </a:rPr>
              <a:t>-</a:t>
            </a:r>
            <a:r>
              <a:rPr lang="en-US" sz="4400" b="1" i="0" err="1">
                <a:solidFill>
                  <a:srgbClr val="1F2328"/>
                </a:solidFill>
                <a:effectLst/>
                <a:latin typeface="ui-monospace"/>
              </a:rPr>
              <a:t>Werror</a:t>
            </a:r>
            <a:r>
              <a:rPr lang="en-US" sz="4400" b="1" i="0">
                <a:solidFill>
                  <a:srgbClr val="1F2328"/>
                </a:solidFill>
                <a:effectLst/>
                <a:latin typeface="ui-monospace"/>
              </a:rPr>
              <a:t> </a:t>
            </a:r>
          </a:p>
          <a:p>
            <a:pPr algn="l">
              <a:buNone/>
            </a:pPr>
            <a:r>
              <a:rPr lang="en-US" sz="4400" b="1" i="0">
                <a:solidFill>
                  <a:srgbClr val="1F2328"/>
                </a:solidFill>
                <a:effectLst/>
                <a:latin typeface="ui-monospace"/>
              </a:rPr>
              <a:t>-</a:t>
            </a:r>
            <a:r>
              <a:rPr lang="en-US" sz="4400" b="1" i="0" err="1">
                <a:solidFill>
                  <a:srgbClr val="1F2328"/>
                </a:solidFill>
                <a:effectLst/>
                <a:latin typeface="ui-monospace"/>
              </a:rPr>
              <a:t>Wno</a:t>
            </a:r>
            <a:r>
              <a:rPr lang="en-US" sz="4400" b="1" i="0">
                <a:solidFill>
                  <a:srgbClr val="1F2328"/>
                </a:solidFill>
                <a:effectLst/>
                <a:latin typeface="ui-monospace"/>
              </a:rPr>
              <a:t>-error=sign-conversion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6C37A2-5D01-26BB-C288-073341D4C69C}"/>
              </a:ext>
            </a:extLst>
          </p:cNvPr>
          <p:cNvSpPr txBox="1"/>
          <p:nvPr/>
        </p:nvSpPr>
        <p:spPr>
          <a:xfrm>
            <a:off x="453154" y="4627137"/>
            <a:ext cx="94126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1F2328"/>
                </a:solidFill>
                <a:latin typeface="ui-monospace"/>
              </a:rPr>
              <a:t>-</a:t>
            </a:r>
            <a:r>
              <a:rPr lang="en-US" sz="2400" err="1">
                <a:solidFill>
                  <a:srgbClr val="1F2328"/>
                </a:solidFill>
                <a:latin typeface="ui-monospace"/>
              </a:rPr>
              <a:t>Wno</a:t>
            </a:r>
            <a:r>
              <a:rPr lang="en-US" sz="2400">
                <a:solidFill>
                  <a:srgbClr val="1F2328"/>
                </a:solidFill>
                <a:latin typeface="ui-monospace"/>
              </a:rPr>
              <a:t>-error=&lt;warning&gt; turns that specific rule back into a warning even if </a:t>
            </a:r>
          </a:p>
          <a:p>
            <a:r>
              <a:rPr lang="en-US" sz="2400">
                <a:solidFill>
                  <a:srgbClr val="1F2328"/>
                </a:solidFill>
                <a:latin typeface="ui-monospace"/>
              </a:rPr>
              <a:t>-</a:t>
            </a:r>
            <a:r>
              <a:rPr lang="en-US" sz="2400" err="1">
                <a:solidFill>
                  <a:srgbClr val="1F2328"/>
                </a:solidFill>
                <a:latin typeface="ui-monospace"/>
              </a:rPr>
              <a:t>Werror</a:t>
            </a:r>
            <a:r>
              <a:rPr lang="en-US" sz="2400">
                <a:solidFill>
                  <a:srgbClr val="1F2328"/>
                </a:solidFill>
                <a:latin typeface="ui-monospace"/>
              </a:rPr>
              <a:t> was specified</a:t>
            </a:r>
            <a:endParaRPr lang="en-US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EEB3B7-EE7B-006C-E506-0A8A0D3B6FE6}"/>
              </a:ext>
            </a:extLst>
          </p:cNvPr>
          <p:cNvSpPr txBox="1"/>
          <p:nvPr/>
        </p:nvSpPr>
        <p:spPr>
          <a:xfrm>
            <a:off x="396509" y="1132885"/>
            <a:ext cx="1001998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Example:</a:t>
            </a:r>
          </a:p>
          <a:p>
            <a:endParaRPr lang="en-US" sz="2000"/>
          </a:p>
          <a:p>
            <a:r>
              <a:rPr lang="en-US" sz="2000"/>
              <a:t>We have a bunch of conversion of ‘int’ to ‘</a:t>
            </a:r>
            <a:r>
              <a:rPr lang="en-US" sz="2000" err="1"/>
              <a:t>size_t</a:t>
            </a:r>
            <a:r>
              <a:rPr lang="en-US" sz="2000"/>
              <a:t>’ warnings in existing code. </a:t>
            </a:r>
          </a:p>
          <a:p>
            <a:r>
              <a:rPr lang="en-US" sz="2000"/>
              <a:t>To make sure we do not introduce warnings in other categories, we use </a:t>
            </a:r>
            <a:r>
              <a:rPr lang="en-US" sz="2000" b="1"/>
              <a:t>–</a:t>
            </a:r>
            <a:r>
              <a:rPr lang="en-US" sz="2000" b="1" err="1"/>
              <a:t>Werror</a:t>
            </a:r>
            <a:r>
              <a:rPr lang="en-US" sz="2000"/>
              <a:t>, but </a:t>
            </a:r>
          </a:p>
          <a:p>
            <a:r>
              <a:rPr lang="en-US" sz="2000"/>
              <a:t>allow </a:t>
            </a:r>
            <a:r>
              <a:rPr lang="en-US" sz="2000" b="1"/>
              <a:t>sign-conversion</a:t>
            </a:r>
            <a:r>
              <a:rPr lang="en-US" sz="2000"/>
              <a:t> to be a </a:t>
            </a:r>
            <a:r>
              <a:rPr lang="en-US" sz="2000" b="1"/>
              <a:t>warning</a:t>
            </a:r>
            <a:r>
              <a:rPr lang="en-US" sz="2000"/>
              <a:t> for the time being.</a:t>
            </a:r>
          </a:p>
        </p:txBody>
      </p:sp>
    </p:spTree>
    <p:extLst>
      <p:ext uri="{BB962C8B-B14F-4D97-AF65-F5344CB8AC3E}">
        <p14:creationId xmlns:p14="http://schemas.microsoft.com/office/powerpoint/2010/main" val="2763414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17276-3C5B-F053-B5B1-5234213C9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71B04-7257-F92B-C49E-8B329A9C3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02" y="208289"/>
            <a:ext cx="11430000" cy="1325563"/>
          </a:xfrm>
        </p:spPr>
        <p:txBody>
          <a:bodyPr>
            <a:normAutofit/>
          </a:bodyPr>
          <a:lstStyle/>
          <a:p>
            <a:r>
              <a:rPr lang="en-US"/>
              <a:t>RUN tests with sanitizers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8EC3B-14C5-F75B-564C-0F0F9539B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6BA77D-A2F3-A3AF-6B9D-6F98E21CD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02" y="1147443"/>
            <a:ext cx="11660379" cy="492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243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FF947-958E-4CEC-D5E0-55211B6ED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89012-5CAB-334F-2BD7-C8FB1A1CA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02" y="208289"/>
            <a:ext cx="11430000" cy="1325563"/>
          </a:xfrm>
        </p:spPr>
        <p:txBody>
          <a:bodyPr>
            <a:normAutofit/>
          </a:bodyPr>
          <a:lstStyle/>
          <a:p>
            <a:r>
              <a:rPr lang="en-US"/>
              <a:t>collect reports from CI BUILDs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52FC88-F9F1-4016-7B0A-EBFF41FD4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DF22DA-34AB-AF5C-45B3-B7F221988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6825"/>
            <a:ext cx="12192000" cy="4324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D76877-DD5B-4E8A-C49F-EE458B167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4" y="5885310"/>
            <a:ext cx="11021963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1904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E5E9F-2235-2DED-A073-9FF9ADED0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ECE5A-F4A7-0430-CC30-7B916BA8E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02" y="208289"/>
            <a:ext cx="11430000" cy="1325563"/>
          </a:xfrm>
        </p:spPr>
        <p:txBody>
          <a:bodyPr>
            <a:normAutofit/>
          </a:bodyPr>
          <a:lstStyle/>
          <a:p>
            <a:r>
              <a:rPr lang="en-US"/>
              <a:t>collect reports from CI BUILDs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63988-1326-7DA1-DFC5-C45566C39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D51215-B0CB-916D-22F0-7B4DB397C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2" y="1404655"/>
            <a:ext cx="12003175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10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58FB7-4B24-03BA-1FE4-17A892CEC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175" y="402498"/>
            <a:ext cx="10668000" cy="1325563"/>
          </a:xfrm>
        </p:spPr>
        <p:txBody>
          <a:bodyPr/>
          <a:lstStyle/>
          <a:p>
            <a:r>
              <a:rPr lang="en-US"/>
              <a:t>TSAN false positives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6F12E7-8D81-3978-B1A3-95F1FDBD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0B4D69-58AA-D8C7-A7DC-0A7B6F6F572B}"/>
              </a:ext>
            </a:extLst>
          </p:cNvPr>
          <p:cNvSpPr txBox="1"/>
          <p:nvPr/>
        </p:nvSpPr>
        <p:spPr>
          <a:xfrm>
            <a:off x="429648" y="1444375"/>
            <a:ext cx="10125160" cy="2962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TSAN_OPTIONS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"suppressions=${CI_BUILD_DIR}/gitlab/</a:t>
            </a:r>
            <a:r>
              <a:rPr lang="en-US" b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tsan_suppressions</a:t>
            </a:r>
            <a:r>
              <a:rPr lang="en-US" b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DAF2E0-6D91-2A18-5C5A-AA01FFD4CB71}"/>
              </a:ext>
            </a:extLst>
          </p:cNvPr>
          <p:cNvSpPr txBox="1"/>
          <p:nvPr/>
        </p:nvSpPr>
        <p:spPr>
          <a:xfrm>
            <a:off x="429648" y="2109205"/>
            <a:ext cx="5420894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err="1">
                <a:latin typeface="Courier New" panose="02070309020205020404" pitchFamily="49" charset="0"/>
                <a:cs typeface="Courier New" panose="02070309020205020404" pitchFamily="49" charset="0"/>
              </a:rPr>
              <a:t>mutex:libueye_api.so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err="1">
                <a:latin typeface="Courier New" panose="02070309020205020404" pitchFamily="49" charset="0"/>
                <a:cs typeface="Courier New" panose="02070309020205020404" pitchFamily="49" charset="0"/>
              </a:rPr>
              <a:t>deadlock:libueye_api.so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signal_handler_errno:libQt5Core.so</a:t>
            </a:r>
            <a:endParaRPr lang="en-US" b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2599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92E00-4197-3CFA-C601-94DB5C191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55" y="292998"/>
            <a:ext cx="9352481" cy="653208"/>
          </a:xfrm>
        </p:spPr>
        <p:txBody>
          <a:bodyPr>
            <a:normAutofit fontScale="90000"/>
          </a:bodyPr>
          <a:lstStyle/>
          <a:p>
            <a:r>
              <a:rPr lang="en-US" dirty="0"/>
              <a:t>clang-format &amp; </a:t>
            </a:r>
            <a:r>
              <a:rPr lang="en-US" dirty="0" err="1"/>
              <a:t>Editorconfig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968AD2-70F1-B20A-3AAB-79AF5F67B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C73FB8-5AB0-B7BF-2106-8B9CB1AA5707}"/>
              </a:ext>
            </a:extLst>
          </p:cNvPr>
          <p:cNvSpPr txBox="1"/>
          <p:nvPr/>
        </p:nvSpPr>
        <p:spPr>
          <a:xfrm>
            <a:off x="324255" y="1118042"/>
            <a:ext cx="922239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have a repository specific clang-format file that was modified to approximate the existing style.</a:t>
            </a:r>
          </a:p>
          <a:p>
            <a:endParaRPr lang="en-US" b="1" dirty="0"/>
          </a:p>
          <a:p>
            <a:r>
              <a:rPr lang="en-US" dirty="0"/>
              <a:t>We check the style in the build for every commit and set editors to format-on-save.</a:t>
            </a:r>
          </a:p>
          <a:p>
            <a:r>
              <a:rPr lang="en-US" dirty="0"/>
              <a:t>We </a:t>
            </a:r>
            <a:r>
              <a:rPr lang="en-US" b="1" dirty="0"/>
              <a:t>fail the build</a:t>
            </a:r>
            <a:r>
              <a:rPr lang="en-US" dirty="0"/>
              <a:t> in a pre-build verification step for violations of:</a:t>
            </a:r>
          </a:p>
          <a:p>
            <a:pPr marL="285750" indent="-285750">
              <a:buFontTx/>
              <a:buChar char="-"/>
            </a:pPr>
            <a:r>
              <a:rPr lang="en-US" dirty="0"/>
              <a:t>whitespace style</a:t>
            </a:r>
          </a:p>
          <a:p>
            <a:pPr marL="285750" indent="-285750">
              <a:buFontTx/>
              <a:buChar char="-"/>
            </a:pPr>
            <a:r>
              <a:rPr lang="en-US" dirty="0"/>
              <a:t>spelling errors (not yet)</a:t>
            </a:r>
          </a:p>
          <a:p>
            <a:endParaRPr lang="en-US" dirty="0"/>
          </a:p>
          <a:p>
            <a:r>
              <a:rPr lang="en-US" dirty="0" err="1"/>
              <a:t>Editorconfig</a:t>
            </a:r>
            <a:r>
              <a:rPr lang="en-US" dirty="0"/>
              <a:t> can help to make tab/space settings consistent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 encoding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tab/space setting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end of line setting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end of file newline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A08A1B-CCC8-3BBE-D3B8-BF69C51F18AA}"/>
              </a:ext>
            </a:extLst>
          </p:cNvPr>
          <p:cNvSpPr txBox="1"/>
          <p:nvPr/>
        </p:nvSpPr>
        <p:spPr>
          <a:xfrm>
            <a:off x="324255" y="5627173"/>
            <a:ext cx="6094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linkClick r:id="rId2"/>
              </a:rPr>
              <a:t>https://clang.llvm.org/docs/ClangFormat.html</a:t>
            </a:r>
            <a:endParaRPr lang="en-US" b="1" dirty="0"/>
          </a:p>
          <a:p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AEC796-F8E9-AAE7-287E-FA46F4957609}"/>
              </a:ext>
            </a:extLst>
          </p:cNvPr>
          <p:cNvSpPr txBox="1"/>
          <p:nvPr/>
        </p:nvSpPr>
        <p:spPr>
          <a:xfrm>
            <a:off x="324255" y="5257841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linkClick r:id="rId3"/>
              </a:rPr>
              <a:t>https://editorconfig.org/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B22EB6-6B2A-7026-A461-3171FD6058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401" y="2547333"/>
            <a:ext cx="4422669" cy="36152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18038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FA286-66F8-A7DE-08A4-762A7D8C2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4855C-DA9A-4ED1-7635-BE58784A6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56" y="292998"/>
            <a:ext cx="6497964" cy="653208"/>
          </a:xfrm>
        </p:spPr>
        <p:txBody>
          <a:bodyPr>
            <a:normAutofit fontScale="90000"/>
          </a:bodyPr>
          <a:lstStyle/>
          <a:p>
            <a:r>
              <a:rPr lang="en-US" dirty="0"/>
              <a:t>open canary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1D29F-F193-F999-0F3B-B8B78D70F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996448-425F-CC2E-4D59-758BBF82C8AC}"/>
              </a:ext>
            </a:extLst>
          </p:cNvPr>
          <p:cNvSpPr txBox="1"/>
          <p:nvPr/>
        </p:nvSpPr>
        <p:spPr>
          <a:xfrm>
            <a:off x="525901" y="1381741"/>
            <a:ext cx="92223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set of scripts for aggregation, analysis and reporting of build and static analysis results. </a:t>
            </a:r>
          </a:p>
          <a:p>
            <a:endParaRPr lang="en-US" dirty="0"/>
          </a:p>
          <a:p>
            <a:r>
              <a:rPr lang="en-US" dirty="0"/>
              <a:t>Its purpose is to give you a failing CI build if new issues are introduced and to generate a team specific prioritized list of issues to work on.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0576C5-911F-CA21-16C5-56DC7DAA65BF}"/>
              </a:ext>
            </a:extLst>
          </p:cNvPr>
          <p:cNvSpPr txBox="1"/>
          <p:nvPr/>
        </p:nvSpPr>
        <p:spPr>
          <a:xfrm>
            <a:off x="525901" y="2971438"/>
            <a:ext cx="6094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linkClick r:id="rId2"/>
              </a:rPr>
              <a:t>https://github.com/janwilmans/OpenCanary</a:t>
            </a: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618774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5D2F3-4869-9A33-8799-6CAB828FC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A6CBB-7FC7-C8D4-F8DF-2DA01E535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55" y="292997"/>
            <a:ext cx="8082595" cy="1325563"/>
          </a:xfrm>
        </p:spPr>
        <p:txBody>
          <a:bodyPr/>
          <a:lstStyle/>
          <a:p>
            <a:r>
              <a:rPr lang="en-US" dirty="0"/>
              <a:t>now on to actual coding guidelines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FF20F-F70A-491A-41B9-042F3B0AF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825CBA9-7E1A-122D-8283-8ED49F6B3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226" y="2960567"/>
            <a:ext cx="7092146" cy="3546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25830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842FE-B946-D37E-60C1-CE1426534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1C9EF-8A36-FAA4-47E2-42267CD3A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02" y="208289"/>
            <a:ext cx="11430000" cy="1325563"/>
          </a:xfrm>
        </p:spPr>
        <p:txBody>
          <a:bodyPr>
            <a:normAutofit/>
          </a:bodyPr>
          <a:lstStyle/>
          <a:p>
            <a:r>
              <a:rPr lang="en-US" dirty="0"/>
              <a:t>no raw loops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7E3E99-0013-0D7B-3E94-AA35453A8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91E2F0-4F41-65EA-3503-812247551398}"/>
              </a:ext>
            </a:extLst>
          </p:cNvPr>
          <p:cNvSpPr txBox="1"/>
          <p:nvPr/>
        </p:nvSpPr>
        <p:spPr>
          <a:xfrm>
            <a:off x="309468" y="1096888"/>
            <a:ext cx="109018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whole category of out-of-bounds issue is solved by using range-based for and/or ranges. </a:t>
            </a:r>
          </a:p>
          <a:p>
            <a:endParaRPr lang="en-US" sz="2400" dirty="0"/>
          </a:p>
          <a:p>
            <a:r>
              <a:rPr lang="en-US" sz="2400" dirty="0"/>
              <a:t>Their interface makes them very hard to use incorrectly and they allow you to express your intent more clearly which improves readability. </a:t>
            </a:r>
          </a:p>
        </p:txBody>
      </p:sp>
    </p:spTree>
    <p:extLst>
      <p:ext uri="{BB962C8B-B14F-4D97-AF65-F5344CB8AC3E}">
        <p14:creationId xmlns:p14="http://schemas.microsoft.com/office/powerpoint/2010/main" val="35857922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188CF-62E4-2E31-E4A5-378D6FC82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472D9-9BDD-9DA7-F3A3-D1E4307F6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02" y="208289"/>
            <a:ext cx="11430000" cy="1325563"/>
          </a:xfrm>
        </p:spPr>
        <p:txBody>
          <a:bodyPr>
            <a:normAutofit/>
          </a:bodyPr>
          <a:lstStyle/>
          <a:p>
            <a:r>
              <a:rPr lang="en-US" dirty="0"/>
              <a:t>Avoid global mutable state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A9990B-EE1D-57A3-A052-69AC9ED28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6203A6-19A3-AC8B-12D1-7F216C3DF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10" y="4800019"/>
            <a:ext cx="4363059" cy="695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49C669-6967-B0AE-65E1-9411947E5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10" y="5591214"/>
            <a:ext cx="4801270" cy="3143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BDDB76-2D47-96A2-825F-7D2EB64EECDF}"/>
              </a:ext>
            </a:extLst>
          </p:cNvPr>
          <p:cNvSpPr txBox="1"/>
          <p:nvPr/>
        </p:nvSpPr>
        <p:spPr>
          <a:xfrm>
            <a:off x="420786" y="1629625"/>
            <a:ext cx="1002582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An incredible source of errors and hard to understand code.</a:t>
            </a:r>
          </a:p>
          <a:p>
            <a:r>
              <a:rPr lang="en-US" sz="2800"/>
              <a:t>Mainly due to lack of local reasoning.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1A6B0D-142B-E779-2D36-D15E296B8CC9}"/>
              </a:ext>
            </a:extLst>
          </p:cNvPr>
          <p:cNvSpPr txBox="1"/>
          <p:nvPr/>
        </p:nvSpPr>
        <p:spPr>
          <a:xfrm>
            <a:off x="420786" y="2948628"/>
            <a:ext cx="1034151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To understand when state changes, you not only have to read </a:t>
            </a:r>
            <a:r>
              <a:rPr lang="en-US" sz="2800" b="1"/>
              <a:t>all functions </a:t>
            </a:r>
            <a:r>
              <a:rPr lang="en-US" sz="2800"/>
              <a:t>that access it but also know </a:t>
            </a:r>
            <a:r>
              <a:rPr lang="en-US" sz="2800" b="1"/>
              <a:t>when</a:t>
            </a:r>
            <a:r>
              <a:rPr lang="en-US" sz="2800"/>
              <a:t> they are invoked and </a:t>
            </a:r>
            <a:r>
              <a:rPr lang="en-US" sz="2800" b="1"/>
              <a:t>how. </a:t>
            </a:r>
            <a:r>
              <a:rPr lang="en-US" sz="2800"/>
              <a:t>(on different threads? how often?)</a:t>
            </a:r>
          </a:p>
        </p:txBody>
      </p:sp>
    </p:spTree>
    <p:extLst>
      <p:ext uri="{BB962C8B-B14F-4D97-AF65-F5344CB8AC3E}">
        <p14:creationId xmlns:p14="http://schemas.microsoft.com/office/powerpoint/2010/main" val="40260426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4BD53-EA00-C44A-B7E2-DBD9F174D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77280-2B3A-C681-4ED4-B7E3B901D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02" y="208289"/>
            <a:ext cx="11430000" cy="1325563"/>
          </a:xfrm>
        </p:spPr>
        <p:txBody>
          <a:bodyPr>
            <a:normAutofit/>
          </a:bodyPr>
          <a:lstStyle/>
          <a:p>
            <a:r>
              <a:rPr lang="en-US" dirty="0"/>
              <a:t>Limit 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147396-6DFF-44F4-EF8A-B47D5FCD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951E84-B5BA-8E41-DC90-977984330D02}"/>
              </a:ext>
            </a:extLst>
          </p:cNvPr>
          <p:cNvSpPr txBox="1"/>
          <p:nvPr/>
        </p:nvSpPr>
        <p:spPr>
          <a:xfrm>
            <a:off x="111222" y="1440382"/>
            <a:ext cx="102397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Keep the scope of variables and type declarations as limited as possible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7FC74F-5475-A1C0-4CBA-FA5C263C5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2" y="2271379"/>
            <a:ext cx="4051601" cy="36714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5D67C2-54B5-8451-2398-D15DA5D34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092" y="2722903"/>
            <a:ext cx="7326110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4039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EAE19-C257-3A0E-6E1D-B116552A0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8E6D5-2BA7-9AB3-81DB-1EBE7261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57780A-323A-4B6A-2476-E165C98ABC8F}"/>
              </a:ext>
            </a:extLst>
          </p:cNvPr>
          <p:cNvSpPr txBox="1"/>
          <p:nvPr/>
        </p:nvSpPr>
        <p:spPr>
          <a:xfrm>
            <a:off x="1132885" y="2327284"/>
            <a:ext cx="10292490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int size = 0;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const int offset = 0; // const forces initialization </a:t>
            </a:r>
          </a:p>
          <a:p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struct Point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  int x = 0;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  int y = 0;</a:t>
            </a: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Point p; // initialized by default!</a:t>
            </a: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A70743-CD2A-8BBE-979A-0A585C59DC93}"/>
              </a:ext>
            </a:extLst>
          </p:cNvPr>
          <p:cNvSpPr txBox="1"/>
          <p:nvPr/>
        </p:nvSpPr>
        <p:spPr>
          <a:xfrm>
            <a:off x="1132885" y="1957952"/>
            <a:ext cx="1593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Trivial cases: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F708990-104C-C5FB-D168-A9C1AEAD6DE5}"/>
              </a:ext>
            </a:extLst>
          </p:cNvPr>
          <p:cNvSpPr txBox="1">
            <a:spLocks/>
          </p:cNvSpPr>
          <p:nvPr/>
        </p:nvSpPr>
        <p:spPr>
          <a:xfrm>
            <a:off x="1076241" y="208289"/>
            <a:ext cx="8512821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6F4641-3963-27E5-023E-619FC1A835F6}"/>
              </a:ext>
            </a:extLst>
          </p:cNvPr>
          <p:cNvSpPr txBox="1"/>
          <p:nvPr/>
        </p:nvSpPr>
        <p:spPr>
          <a:xfrm>
            <a:off x="1076241" y="6244021"/>
            <a:ext cx="7766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notice</a:t>
            </a:r>
            <a:r>
              <a:rPr lang="en-US"/>
              <a:t> that it is </a:t>
            </a:r>
            <a:r>
              <a:rPr lang="en-US" b="1"/>
              <a:t>no longer possible </a:t>
            </a:r>
            <a:r>
              <a:rPr lang="en-US"/>
              <a:t>to create an uninitialized </a:t>
            </a:r>
            <a:r>
              <a:rPr lang="en-US" b="1"/>
              <a:t>Point</a:t>
            </a:r>
            <a:r>
              <a:rPr lang="en-US"/>
              <a:t> here!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07A9A9-561F-32CE-B88D-B34EF0195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885" y="1478733"/>
            <a:ext cx="6902162" cy="33342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1989DF3-5403-02BA-670C-B5393C03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175" y="77204"/>
            <a:ext cx="106680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Initialize all variables At declaration   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2662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52AB4-3239-D1AB-50FA-08176FD33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AAD5E4-3886-AF08-F5E4-4F91514F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1EA6B8-2B47-9120-023A-51B54EF12D62}"/>
              </a:ext>
            </a:extLst>
          </p:cNvPr>
          <p:cNvSpPr txBox="1"/>
          <p:nvPr/>
        </p:nvSpPr>
        <p:spPr>
          <a:xfrm>
            <a:off x="403928" y="2259061"/>
            <a:ext cx="11588468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auto result = Result::Good; // 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mutable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if (var &gt; value)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result = Result::Bad;</a:t>
            </a: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instead,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could be const by using the ternary operator</a:t>
            </a:r>
          </a:p>
          <a:p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auto result = (var &gt; value) ? Result::Good : Result::Bad;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B66548-2496-DBB6-83D5-8E4CF0C4EE3B}"/>
              </a:ext>
            </a:extLst>
          </p:cNvPr>
          <p:cNvSpPr txBox="1"/>
          <p:nvPr/>
        </p:nvSpPr>
        <p:spPr>
          <a:xfrm>
            <a:off x="1011504" y="2131039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87C549-0667-1E62-E661-1FA975E44ED5}"/>
              </a:ext>
            </a:extLst>
          </p:cNvPr>
          <p:cNvSpPr txBox="1"/>
          <p:nvPr/>
        </p:nvSpPr>
        <p:spPr>
          <a:xfrm>
            <a:off x="403928" y="1641052"/>
            <a:ext cx="2487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Non-Trivial case: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3CA3914-EA2F-AF64-C474-FD870CC3CFAE}"/>
              </a:ext>
            </a:extLst>
          </p:cNvPr>
          <p:cNvSpPr txBox="1">
            <a:spLocks/>
          </p:cNvSpPr>
          <p:nvPr/>
        </p:nvSpPr>
        <p:spPr>
          <a:xfrm>
            <a:off x="403927" y="66812"/>
            <a:ext cx="8512821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Initialize all variables At declaration  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B705D1-B1C5-DBF7-98E5-A7A3099F386C}"/>
              </a:ext>
            </a:extLst>
          </p:cNvPr>
          <p:cNvSpPr txBox="1"/>
          <p:nvPr/>
        </p:nvSpPr>
        <p:spPr>
          <a:xfrm>
            <a:off x="403927" y="5491512"/>
            <a:ext cx="4540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/>
              <a:t>Notice</a:t>
            </a:r>
            <a:r>
              <a:rPr lang="en-US" sz="1800" b="1"/>
              <a:t> </a:t>
            </a:r>
            <a:r>
              <a:rPr lang="en-US" b="1"/>
              <a:t>`</a:t>
            </a:r>
            <a:r>
              <a:rPr lang="en-US" sz="1800" b="1"/>
              <a:t>result`</a:t>
            </a:r>
            <a:r>
              <a:rPr lang="en-US" sz="1800"/>
              <a:t> can be const here</a:t>
            </a:r>
          </a:p>
        </p:txBody>
      </p:sp>
    </p:spTree>
    <p:extLst>
      <p:ext uri="{BB962C8B-B14F-4D97-AF65-F5344CB8AC3E}">
        <p14:creationId xmlns:p14="http://schemas.microsoft.com/office/powerpoint/2010/main" val="24335331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1B85A-56B5-F959-07B1-985AA721D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E0F233-7D34-3A16-BA1F-300CB6187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AF6037-7724-B655-93B2-58978957B4AF}"/>
              </a:ext>
            </a:extLst>
          </p:cNvPr>
          <p:cNvSpPr txBox="1"/>
          <p:nvPr/>
        </p:nvSpPr>
        <p:spPr>
          <a:xfrm>
            <a:off x="403928" y="2259061"/>
            <a:ext cx="11588468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auto details = [&amp;client]() -&gt; </a:t>
            </a:r>
            <a:r>
              <a:rPr lang="en-US" err="1">
                <a:latin typeface="Courier New" panose="02070309020205020404" pitchFamily="49" charset="0"/>
                <a:cs typeface="Courier New" panose="02070309020205020404" pitchFamily="49" charset="0"/>
              </a:rPr>
              <a:t>DeviceDetails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try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err="1">
                <a:latin typeface="Courier New" panose="02070309020205020404" pitchFamily="49" charset="0"/>
                <a:cs typeface="Courier New" panose="02070309020205020404" pitchFamily="49" charset="0"/>
              </a:rPr>
              <a:t>client.GetDeviceDetails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(); // 3</a:t>
            </a:r>
            <a:r>
              <a:rPr lang="en-US" baseline="30000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party API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catch (const std::exception &amp;)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  // details not available for this client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  return {};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}();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3601D2-B891-CEF4-CC5C-ABC78FA1F219}"/>
              </a:ext>
            </a:extLst>
          </p:cNvPr>
          <p:cNvSpPr txBox="1"/>
          <p:nvPr/>
        </p:nvSpPr>
        <p:spPr>
          <a:xfrm>
            <a:off x="1011504" y="2131039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E17BDF-0CAB-5E10-10B2-5F9F24A0DCB4}"/>
              </a:ext>
            </a:extLst>
          </p:cNvPr>
          <p:cNvSpPr txBox="1"/>
          <p:nvPr/>
        </p:nvSpPr>
        <p:spPr>
          <a:xfrm>
            <a:off x="403927" y="1641052"/>
            <a:ext cx="78451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using an Immediately Invoked Function Expression (IFFE)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AE10AD-70A8-1A74-BD8B-C501B1FE3EB2}"/>
              </a:ext>
            </a:extLst>
          </p:cNvPr>
          <p:cNvSpPr txBox="1"/>
          <p:nvPr/>
        </p:nvSpPr>
        <p:spPr>
          <a:xfrm>
            <a:off x="515866" y="5815194"/>
            <a:ext cx="72078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/>
              <a:t>Notice that </a:t>
            </a:r>
            <a:r>
              <a:rPr lang="en-US" sz="1800" b="1"/>
              <a:t>`details</a:t>
            </a:r>
            <a:r>
              <a:rPr lang="en-US" b="1"/>
              <a:t>`</a:t>
            </a:r>
            <a:r>
              <a:rPr lang="en-US" sz="1800"/>
              <a:t> can still be </a:t>
            </a:r>
            <a:r>
              <a:rPr lang="en-US" sz="1800" b="1"/>
              <a:t>const</a:t>
            </a:r>
            <a:r>
              <a:rPr lang="en-US" sz="1800"/>
              <a:t> here.</a:t>
            </a:r>
          </a:p>
          <a:p>
            <a:r>
              <a:rPr lang="en-US"/>
              <a:t>And we could also have created a free function...</a:t>
            </a:r>
            <a:endParaRPr lang="en-US" sz="180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5BF9D2A-DF16-41F0-6724-DF27BFCFEC27}"/>
              </a:ext>
            </a:extLst>
          </p:cNvPr>
          <p:cNvSpPr txBox="1">
            <a:spLocks/>
          </p:cNvSpPr>
          <p:nvPr/>
        </p:nvSpPr>
        <p:spPr>
          <a:xfrm>
            <a:off x="224325" y="78684"/>
            <a:ext cx="8512821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Initialize all variables At declaration    </a:t>
            </a:r>
          </a:p>
        </p:txBody>
      </p:sp>
    </p:spTree>
    <p:extLst>
      <p:ext uri="{BB962C8B-B14F-4D97-AF65-F5344CB8AC3E}">
        <p14:creationId xmlns:p14="http://schemas.microsoft.com/office/powerpoint/2010/main" val="13391695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775EC-5CFE-D5AC-91A2-B334CEB73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5B1F08-F4E0-3CED-8FF8-E37DFEC6A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4CDC4-441B-38D0-3306-1D89F4896458}"/>
              </a:ext>
            </a:extLst>
          </p:cNvPr>
          <p:cNvSpPr txBox="1">
            <a:spLocks/>
          </p:cNvSpPr>
          <p:nvPr/>
        </p:nvSpPr>
        <p:spPr>
          <a:xfrm>
            <a:off x="169934" y="78684"/>
            <a:ext cx="1063293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Use const whenever you can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6CCF1A-9437-1CC4-810E-856E32CC1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7237" y="993288"/>
            <a:ext cx="2896004" cy="43535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CD9218-CDA5-B926-A1DA-73280A87176B}"/>
              </a:ext>
            </a:extLst>
          </p:cNvPr>
          <p:cNvSpPr txBox="1"/>
          <p:nvPr/>
        </p:nvSpPr>
        <p:spPr>
          <a:xfrm>
            <a:off x="169934" y="1216048"/>
            <a:ext cx="89455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Using const on variables makes code easier to read and less error-prone because you can’t assign it by mistake.</a:t>
            </a:r>
          </a:p>
          <a:p>
            <a:endParaRPr lang="en-US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593756-D636-BDB8-8D8D-032CE9E05080}"/>
              </a:ext>
            </a:extLst>
          </p:cNvPr>
          <p:cNvSpPr txBox="1"/>
          <p:nvPr/>
        </p:nvSpPr>
        <p:spPr>
          <a:xfrm>
            <a:off x="169934" y="2091905"/>
            <a:ext cx="7854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“Whenever you can” – When not?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3B48DBC-A788-C94F-5729-6E6EEEF74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8" y="2623034"/>
            <a:ext cx="3696216" cy="336279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083C028-3569-B412-8D08-570DE38C6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843" y="2647128"/>
            <a:ext cx="3600953" cy="325800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06083BB-449C-242F-432A-BF8CBBDAF6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98" y="6111790"/>
            <a:ext cx="10583752" cy="60968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E99562F-3AA2-AC9B-86EC-65FC04FEAAC7}"/>
              </a:ext>
            </a:extLst>
          </p:cNvPr>
          <p:cNvSpPr txBox="1"/>
          <p:nvPr/>
        </p:nvSpPr>
        <p:spPr>
          <a:xfrm>
            <a:off x="7644684" y="5647038"/>
            <a:ext cx="37806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6"/>
              </a:rPr>
              <a:t>https://godbolt.org/z/5dvMEvdoe</a:t>
            </a:r>
            <a:endParaRPr lang="en-US"/>
          </a:p>
          <a:p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F7F1A4E-3CDB-0D19-D682-4633690423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997" y="823627"/>
            <a:ext cx="4115374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8797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94D0C-CBDD-A407-74A2-CC1EE7DE8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BFC379-B603-3FBA-2E7E-5AC3BB6E2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90AB4C3-C637-D7C7-0982-D3001B7A4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02" y="208289"/>
            <a:ext cx="11430000" cy="1325563"/>
          </a:xfrm>
        </p:spPr>
        <p:txBody>
          <a:bodyPr>
            <a:normAutofit/>
          </a:bodyPr>
          <a:lstStyle/>
          <a:p>
            <a:r>
              <a:rPr lang="en-US" dirty="0"/>
              <a:t>Use [[</a:t>
            </a:r>
            <a:r>
              <a:rPr lang="en-US" dirty="0" err="1"/>
              <a:t>nodiscard</a:t>
            </a:r>
            <a:r>
              <a:rPr lang="en-US" dirty="0"/>
              <a:t>]]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0A9119-4BC3-ED24-091B-FF748B3E6DB5}"/>
              </a:ext>
            </a:extLst>
          </p:cNvPr>
          <p:cNvSpPr txBox="1"/>
          <p:nvPr/>
        </p:nvSpPr>
        <p:spPr>
          <a:xfrm>
            <a:off x="509798" y="5956240"/>
            <a:ext cx="115038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>
                <a:solidFill>
                  <a:srgbClr val="1F2328"/>
                </a:solidFill>
                <a:effectLst/>
                <a:latin typeface="-apple-system"/>
              </a:rPr>
              <a:t>Rationale</a:t>
            </a:r>
            <a:r>
              <a:rPr lang="en-US" sz="2000" b="0" i="0">
                <a:solidFill>
                  <a:srgbClr val="1F2328"/>
                </a:solidFill>
                <a:effectLst/>
                <a:latin typeface="-apple-system"/>
              </a:rPr>
              <a:t>: const functions can't modify the object, so the only reason to call them is to get the return value.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540BF3-8C1C-4C3F-8D01-86132CF52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98" y="2100234"/>
            <a:ext cx="8314511" cy="38560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9A01F4-7F60-CF65-C105-C21BE4FCB1D8}"/>
              </a:ext>
            </a:extLst>
          </p:cNvPr>
          <p:cNvSpPr txBox="1"/>
          <p:nvPr/>
        </p:nvSpPr>
        <p:spPr>
          <a:xfrm>
            <a:off x="509798" y="1163468"/>
            <a:ext cx="103614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Use [[</a:t>
            </a:r>
            <a:r>
              <a:rPr lang="en-US" sz="2400" err="1"/>
              <a:t>nodiscard</a:t>
            </a:r>
            <a:r>
              <a:rPr lang="en-US" sz="2400"/>
              <a:t>]] on all </a:t>
            </a:r>
            <a:r>
              <a:rPr lang="en-US" sz="2400" b="1"/>
              <a:t>pure</a:t>
            </a:r>
            <a:r>
              <a:rPr lang="en-US" sz="2400"/>
              <a:t> free functions and </a:t>
            </a:r>
            <a:r>
              <a:rPr lang="en-US" sz="2400" b="1"/>
              <a:t>const</a:t>
            </a:r>
            <a:r>
              <a:rPr lang="en-US" sz="2400"/>
              <a:t> member functions </a:t>
            </a:r>
          </a:p>
          <a:p>
            <a:r>
              <a:rPr lang="en-US" sz="2400"/>
              <a:t>that do have side-effects</a:t>
            </a:r>
          </a:p>
        </p:txBody>
      </p:sp>
    </p:spTree>
    <p:extLst>
      <p:ext uri="{BB962C8B-B14F-4D97-AF65-F5344CB8AC3E}">
        <p14:creationId xmlns:p14="http://schemas.microsoft.com/office/powerpoint/2010/main" val="13409376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A6F3E-77E0-41F3-FF4C-2FA7E7391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D58D7D-9229-A051-F858-1CE2415C6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41CCD5-1DC9-78B7-C067-1ACDE5392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02" y="208289"/>
            <a:ext cx="11430000" cy="1325563"/>
          </a:xfrm>
        </p:spPr>
        <p:txBody>
          <a:bodyPr>
            <a:normAutofit/>
          </a:bodyPr>
          <a:lstStyle/>
          <a:p>
            <a:r>
              <a:rPr lang="en-US" dirty="0"/>
              <a:t>Avoid returning values using arguments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B62958-C69B-D7DF-117A-B9B2DF6C2B56}"/>
              </a:ext>
            </a:extLst>
          </p:cNvPr>
          <p:cNvSpPr txBox="1"/>
          <p:nvPr/>
        </p:nvSpPr>
        <p:spPr>
          <a:xfrm>
            <a:off x="343240" y="6106529"/>
            <a:ext cx="10068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>
                <a:solidFill>
                  <a:srgbClr val="1F2328"/>
                </a:solidFill>
                <a:effectLst/>
                <a:latin typeface="-apple-system"/>
              </a:rPr>
              <a:t>Rationale</a:t>
            </a:r>
            <a:r>
              <a:rPr lang="en-US" b="0" i="0">
                <a:solidFill>
                  <a:srgbClr val="1F2328"/>
                </a:solidFill>
                <a:effectLst/>
                <a:latin typeface="-apple-system"/>
              </a:rPr>
              <a:t>: breaks local reasoning for the </a:t>
            </a:r>
            <a:r>
              <a:rPr lang="en-US" b="1" i="0">
                <a:solidFill>
                  <a:srgbClr val="1F2328"/>
                </a:solidFill>
                <a:effectLst/>
                <a:latin typeface="-apple-system"/>
              </a:rPr>
              <a:t>caller</a:t>
            </a:r>
            <a:r>
              <a:rPr lang="en-US" b="0" i="0">
                <a:solidFill>
                  <a:srgbClr val="1F2328"/>
                </a:solidFill>
                <a:effectLst/>
                <a:latin typeface="-apple-system"/>
              </a:rPr>
              <a:t>, making reading and understanding the code harder.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92BF44-4642-DFDD-A33A-536CF728E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240" y="1703197"/>
            <a:ext cx="6601746" cy="68589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9CEF67A-17DA-3BDE-4774-5B29CA794C25}"/>
              </a:ext>
            </a:extLst>
          </p:cNvPr>
          <p:cNvSpPr txBox="1"/>
          <p:nvPr/>
        </p:nvSpPr>
        <p:spPr>
          <a:xfrm>
            <a:off x="343240" y="6475861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4"/>
              </a:rPr>
              <a:t>https://godbolt.org/z/8r3vGn7a4</a:t>
            </a:r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A8F715D-FA95-54A3-A5BC-30522CB3CA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240" y="2641645"/>
            <a:ext cx="8661663" cy="33511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A24E8B-B41C-5C32-8BE2-13936193DF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7712" y="3734885"/>
            <a:ext cx="2639351" cy="17838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610405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7B162-F341-4365-B564-8B9BC0996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A90957-2CE7-A2FC-7C54-11B6C905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B7780B-7663-D8F0-87FE-EA9E55C04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02" y="208289"/>
            <a:ext cx="8432671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Use automatic resource management (RAII)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DC4FC5-377A-24E1-F8DC-AB1A6200FC44}"/>
              </a:ext>
            </a:extLst>
          </p:cNvPr>
          <p:cNvSpPr txBox="1"/>
          <p:nvPr/>
        </p:nvSpPr>
        <p:spPr>
          <a:xfrm>
            <a:off x="5937531" y="871070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solidFill>
                  <a:srgbClr val="1F2328"/>
                </a:solidFill>
                <a:effectLst/>
                <a:latin typeface="-apple-system"/>
              </a:rPr>
              <a:t>+ Follow the rule of 0 or the rule of 5 in that order.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00AE5E-E04A-E53D-B2BD-85903B2AD1E5}"/>
              </a:ext>
            </a:extLst>
          </p:cNvPr>
          <p:cNvSpPr txBox="1"/>
          <p:nvPr/>
        </p:nvSpPr>
        <p:spPr>
          <a:xfrm>
            <a:off x="343187" y="2196633"/>
            <a:ext cx="8681072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b="0">
                <a:effectLst/>
                <a:latin typeface="Courier New" panose="02070309020205020404" pitchFamily="49" charset="0"/>
              </a:rPr>
              <a:t>class </a:t>
            </a:r>
            <a:r>
              <a:rPr lang="en-US" b="0" err="1">
                <a:effectLst/>
                <a:latin typeface="Courier New" panose="02070309020205020404" pitchFamily="49" charset="0"/>
              </a:rPr>
              <a:t>rule_of_zero</a:t>
            </a:r>
            <a:endParaRPr lang="en-US" b="0">
              <a:effectLst/>
              <a:latin typeface="Courier New" panose="02070309020205020404" pitchFamily="49" charset="0"/>
            </a:endParaRPr>
          </a:p>
          <a:p>
            <a:pPr algn="l" fontAlgn="t">
              <a:buNone/>
            </a:pPr>
            <a:r>
              <a:rPr lang="en-US" b="0">
                <a:effectLst/>
                <a:latin typeface="Courier New" panose="02070309020205020404" pitchFamily="49" charset="0"/>
              </a:rPr>
              <a:t>{</a:t>
            </a:r>
          </a:p>
          <a:p>
            <a:pPr algn="l" fontAlgn="t">
              <a:buNone/>
            </a:pPr>
            <a:r>
              <a:rPr lang="en-US" b="0">
                <a:effectLst/>
                <a:latin typeface="Courier New" panose="02070309020205020404" pitchFamily="49" charset="0"/>
              </a:rPr>
              <a:t>    std::string </a:t>
            </a:r>
            <a:r>
              <a:rPr lang="en-US" b="0" err="1">
                <a:effectLst/>
                <a:latin typeface="Courier New" panose="02070309020205020404" pitchFamily="49" charset="0"/>
              </a:rPr>
              <a:t>cppstring</a:t>
            </a:r>
            <a:r>
              <a:rPr lang="en-US" b="0">
                <a:effectLst/>
                <a:latin typeface="Courier New" panose="02070309020205020404" pitchFamily="49" charset="0"/>
              </a:rPr>
              <a:t>;</a:t>
            </a:r>
          </a:p>
          <a:p>
            <a:pPr algn="l" fontAlgn="t">
              <a:buNone/>
            </a:pPr>
            <a:r>
              <a:rPr lang="en-US" b="0">
                <a:effectLst/>
                <a:latin typeface="Courier New" panose="02070309020205020404" pitchFamily="49" charset="0"/>
              </a:rPr>
              <a:t>public:</a:t>
            </a:r>
          </a:p>
          <a:p>
            <a:pPr algn="l" fontAlgn="t">
              <a:buNone/>
            </a:pPr>
            <a:r>
              <a:rPr lang="en-US" b="0">
                <a:effectLst/>
                <a:latin typeface="Courier New" panose="02070309020205020404" pitchFamily="49" charset="0"/>
              </a:rPr>
              <a:t>    </a:t>
            </a:r>
            <a:r>
              <a:rPr lang="en-US" b="0" err="1">
                <a:effectLst/>
                <a:latin typeface="Courier New" panose="02070309020205020404" pitchFamily="49" charset="0"/>
              </a:rPr>
              <a:t>rule_of_zero</a:t>
            </a:r>
            <a:r>
              <a:rPr lang="en-US" b="0">
                <a:effectLst/>
                <a:latin typeface="Courier New" panose="02070309020205020404" pitchFamily="49" charset="0"/>
              </a:rPr>
              <a:t>(const std::string&amp; </a:t>
            </a:r>
            <a:r>
              <a:rPr lang="en-US" b="0" err="1">
                <a:effectLst/>
                <a:latin typeface="Courier New" panose="02070309020205020404" pitchFamily="49" charset="0"/>
              </a:rPr>
              <a:t>arg</a:t>
            </a:r>
            <a:r>
              <a:rPr lang="en-US" b="0">
                <a:effectLst/>
                <a:latin typeface="Courier New" panose="02070309020205020404" pitchFamily="49" charset="0"/>
              </a:rPr>
              <a:t>) : </a:t>
            </a:r>
            <a:r>
              <a:rPr lang="en-US" b="0" err="1">
                <a:effectLst/>
                <a:latin typeface="Courier New" panose="02070309020205020404" pitchFamily="49" charset="0"/>
              </a:rPr>
              <a:t>cppstring</a:t>
            </a:r>
            <a:r>
              <a:rPr lang="en-US" b="0">
                <a:effectLst/>
                <a:latin typeface="Courier New" panose="02070309020205020404" pitchFamily="49" charset="0"/>
              </a:rPr>
              <a:t>(</a:t>
            </a:r>
            <a:r>
              <a:rPr lang="en-US" b="0" err="1">
                <a:effectLst/>
                <a:latin typeface="Courier New" panose="02070309020205020404" pitchFamily="49" charset="0"/>
              </a:rPr>
              <a:t>arg</a:t>
            </a:r>
            <a:r>
              <a:rPr lang="en-US" b="0">
                <a:effectLst/>
                <a:latin typeface="Courier New" panose="02070309020205020404" pitchFamily="49" charset="0"/>
              </a:rPr>
              <a:t>) {}</a:t>
            </a:r>
          </a:p>
          <a:p>
            <a:pPr algn="l" fontAlgn="t">
              <a:buNone/>
            </a:pPr>
            <a:r>
              <a:rPr lang="en-US" b="0">
                <a:effectLst/>
                <a:latin typeface="Courier New" panose="02070309020205020404" pitchFamily="49" charset="0"/>
              </a:rPr>
              <a:t>};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1C4B5AB-A566-6E3F-962F-B7C3038B7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87" y="1493551"/>
            <a:ext cx="6763694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904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5353D-1E87-DFB7-486A-6DA8C71A1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DE4CC1-039B-60AE-2CF7-7D2805117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F1435-9B5A-62D4-D446-DBB160826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02" y="208289"/>
            <a:ext cx="8432671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Use automatic resource management (RAII)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266CA4-1B3D-11C9-2995-8BAF0E23F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44" y="1563963"/>
            <a:ext cx="3077004" cy="3524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A37486-CE27-6FB9-B801-94752AAD8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44" y="1946548"/>
            <a:ext cx="7144747" cy="3715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8CD88E4-4FB0-DE0B-A647-39BDC89B0550}"/>
              </a:ext>
            </a:extLst>
          </p:cNvPr>
          <p:cNvSpPr txBox="1"/>
          <p:nvPr/>
        </p:nvSpPr>
        <p:spPr>
          <a:xfrm>
            <a:off x="5937531" y="871070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solidFill>
                  <a:srgbClr val="1F2328"/>
                </a:solidFill>
                <a:effectLst/>
                <a:latin typeface="-apple-system"/>
              </a:rPr>
              <a:t>+ Follow the rule of 0 or the rule of 5 in that order.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FD28E1-6524-4F00-4997-69B05F10F3AB}"/>
              </a:ext>
            </a:extLst>
          </p:cNvPr>
          <p:cNvSpPr txBox="1"/>
          <p:nvPr/>
        </p:nvSpPr>
        <p:spPr>
          <a:xfrm>
            <a:off x="374391" y="2505670"/>
            <a:ext cx="99538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If a class requires a user-defined </a:t>
            </a:r>
            <a:r>
              <a:rPr lang="en-US">
                <a:hlinkClick r:id="rId4" tooltip="cpp/language/destructor"/>
              </a:rPr>
              <a:t>destructor</a:t>
            </a:r>
            <a:r>
              <a:rPr lang="en-US"/>
              <a:t>, a user-defined </a:t>
            </a:r>
            <a:r>
              <a:rPr lang="en-US">
                <a:hlinkClick r:id="rId5" tooltip="cpp/language/copy constructor"/>
              </a:rPr>
              <a:t>copy constructor</a:t>
            </a:r>
            <a:r>
              <a:rPr lang="en-US"/>
              <a:t>, </a:t>
            </a:r>
          </a:p>
          <a:p>
            <a:r>
              <a:rPr lang="en-US"/>
              <a:t>or a user-defined </a:t>
            </a:r>
            <a:r>
              <a:rPr lang="en-US">
                <a:hlinkClick r:id="rId6" tooltip="cpp/language/as operator"/>
              </a:rPr>
              <a:t>copy assignment operator</a:t>
            </a:r>
            <a:r>
              <a:rPr lang="en-US"/>
              <a:t>,</a:t>
            </a:r>
          </a:p>
          <a:p>
            <a:r>
              <a:rPr lang="en-US"/>
              <a:t>then </a:t>
            </a:r>
            <a:r>
              <a:rPr lang="en-US" b="1"/>
              <a:t>implement all of them</a:t>
            </a:r>
            <a:r>
              <a:rPr lang="en-US"/>
              <a:t> and </a:t>
            </a:r>
            <a:r>
              <a:rPr lang="en-US" b="1"/>
              <a:t>add</a:t>
            </a:r>
            <a:r>
              <a:rPr lang="en-US"/>
              <a:t> a </a:t>
            </a:r>
            <a:r>
              <a:rPr lang="en-US">
                <a:hlinkClick r:id="rId5" tooltip="cpp/language/copy constructor"/>
              </a:rPr>
              <a:t>move constructor</a:t>
            </a:r>
            <a:r>
              <a:rPr lang="en-US"/>
              <a:t> and </a:t>
            </a:r>
            <a:r>
              <a:rPr lang="en-US">
                <a:hlinkClick r:id="rId6" tooltip="cpp/language/as operator"/>
              </a:rPr>
              <a:t>move assignment operator</a:t>
            </a:r>
            <a:r>
              <a:rPr lang="en-US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722957-45F0-700B-C9C3-47C63648A737}"/>
              </a:ext>
            </a:extLst>
          </p:cNvPr>
          <p:cNvSpPr txBox="1"/>
          <p:nvPr/>
        </p:nvSpPr>
        <p:spPr>
          <a:xfrm>
            <a:off x="446744" y="3597550"/>
            <a:ext cx="1108491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b="0">
                <a:solidFill>
                  <a:srgbClr val="0000D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example</a:t>
            </a:r>
          </a:p>
          <a:p>
            <a:pPr algn="l" fontAlgn="t">
              <a:buNone/>
            </a:pPr>
            <a:r>
              <a:rPr lang="en-US" b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 fontAlgn="t">
              <a:buNone/>
            </a:pPr>
            <a:r>
              <a:rPr lang="en-US" b="0">
                <a:solidFill>
                  <a:srgbClr val="0000D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en-US" b="0">
                <a:solidFill>
                  <a:srgbClr val="00808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 algn="l" fontAlgn="t"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example</a:t>
            </a:r>
            <a:r>
              <a:rPr lang="en-US" b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const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example</a:t>
            </a:r>
            <a:r>
              <a:rPr lang="en-US" b="0">
                <a:solidFill>
                  <a:srgbClr val="000040"/>
                </a:solidFill>
                <a:effectLst/>
                <a:latin typeface="Courier New" panose="02070309020205020404" pitchFamily="49" charset="0"/>
              </a:rPr>
              <a:t>&amp;</a:t>
            </a:r>
            <a:r>
              <a:rPr lang="en-US" b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>
                <a:solidFill>
                  <a:srgbClr val="0000DD"/>
                </a:solidFill>
                <a:effectLst/>
                <a:latin typeface="Courier New" panose="02070309020205020404" pitchFamily="49" charset="0"/>
              </a:rPr>
              <a:t>default</a:t>
            </a:r>
            <a:r>
              <a:rPr lang="en-US" b="0">
                <a:solidFill>
                  <a:srgbClr val="00808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 fontAlgn="t"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example</a:t>
            </a:r>
            <a:r>
              <a:rPr lang="en-US" b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example</a:t>
            </a:r>
            <a:r>
              <a:rPr lang="en-US" b="0">
                <a:solidFill>
                  <a:srgbClr val="000040"/>
                </a:solidFill>
                <a:effectLst/>
                <a:latin typeface="Courier New" panose="02070309020205020404" pitchFamily="49" charset="0"/>
              </a:rPr>
              <a:t>&amp;&amp;</a:t>
            </a:r>
            <a:r>
              <a:rPr lang="en-US" b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>
                <a:solidFill>
                  <a:srgbClr val="0000DD"/>
                </a:solidFill>
                <a:effectLst/>
                <a:latin typeface="Courier New" panose="02070309020205020404" pitchFamily="49" charset="0"/>
              </a:rPr>
              <a:t>default</a:t>
            </a:r>
            <a:r>
              <a:rPr lang="en-US" b="0">
                <a:solidFill>
                  <a:srgbClr val="00808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 fontAlgn="t"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example</a:t>
            </a:r>
            <a:r>
              <a:rPr lang="en-US" b="0">
                <a:solidFill>
                  <a:srgbClr val="000040"/>
                </a:solidFill>
                <a:effectLst/>
                <a:latin typeface="Courier New" panose="02070309020205020404" pitchFamily="49" charset="0"/>
              </a:rPr>
              <a:t>&amp;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operator</a:t>
            </a:r>
            <a:r>
              <a:rPr lang="en-US" b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const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example</a:t>
            </a:r>
            <a:r>
              <a:rPr lang="en-US" b="0">
                <a:solidFill>
                  <a:srgbClr val="000040"/>
                </a:solidFill>
                <a:effectLst/>
                <a:latin typeface="Courier New" panose="02070309020205020404" pitchFamily="49" charset="0"/>
              </a:rPr>
              <a:t>&amp;</a:t>
            </a:r>
            <a:r>
              <a:rPr lang="en-US" b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>
                <a:solidFill>
                  <a:srgbClr val="0000DD"/>
                </a:solidFill>
                <a:effectLst/>
                <a:latin typeface="Courier New" panose="02070309020205020404" pitchFamily="49" charset="0"/>
              </a:rPr>
              <a:t>default</a:t>
            </a:r>
            <a:r>
              <a:rPr lang="en-US" b="0">
                <a:solidFill>
                  <a:srgbClr val="00808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 fontAlgn="t"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example</a:t>
            </a:r>
            <a:r>
              <a:rPr lang="en-US" b="0">
                <a:solidFill>
                  <a:srgbClr val="000040"/>
                </a:solidFill>
                <a:effectLst/>
                <a:latin typeface="Courier New" panose="02070309020205020404" pitchFamily="49" charset="0"/>
              </a:rPr>
              <a:t>&amp;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operator</a:t>
            </a:r>
            <a:r>
              <a:rPr lang="en-US" b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example</a:t>
            </a:r>
            <a:r>
              <a:rPr lang="en-US" b="0">
                <a:solidFill>
                  <a:srgbClr val="000040"/>
                </a:solidFill>
                <a:effectLst/>
                <a:latin typeface="Courier New" panose="02070309020205020404" pitchFamily="49" charset="0"/>
              </a:rPr>
              <a:t>&amp;&amp;</a:t>
            </a:r>
            <a:r>
              <a:rPr lang="en-US" b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>
                <a:solidFill>
                  <a:srgbClr val="0000DD"/>
                </a:solidFill>
                <a:effectLst/>
                <a:latin typeface="Courier New" panose="02070309020205020404" pitchFamily="49" charset="0"/>
              </a:rPr>
              <a:t>default</a:t>
            </a:r>
            <a:r>
              <a:rPr lang="en-US" b="0">
                <a:solidFill>
                  <a:srgbClr val="00808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 fontAlgn="t"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~example</a:t>
            </a:r>
            <a:r>
              <a:rPr lang="en-US" b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en-US" b="0">
                <a:solidFill>
                  <a:srgbClr val="008080"/>
                </a:solidFill>
                <a:effectLst/>
                <a:latin typeface="Courier New" panose="02070309020205020404" pitchFamily="49" charset="0"/>
              </a:rPr>
              <a:t>; // implemented</a:t>
            </a:r>
            <a:endParaRPr lang="en-US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 fontAlgn="t">
              <a:buNone/>
            </a:pPr>
            <a:r>
              <a:rPr lang="en-US" b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b="0">
                <a:solidFill>
                  <a:srgbClr val="00808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0DEE39-1655-67D7-64D3-F33A23E15681}"/>
              </a:ext>
            </a:extLst>
          </p:cNvPr>
          <p:cNvSpPr txBox="1"/>
          <p:nvPr/>
        </p:nvSpPr>
        <p:spPr>
          <a:xfrm>
            <a:off x="374391" y="6284481"/>
            <a:ext cx="9344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Notice</a:t>
            </a:r>
            <a:r>
              <a:rPr lang="en-US"/>
              <a:t>: copy/move assignment operations will not be default in practice</a:t>
            </a:r>
          </a:p>
        </p:txBody>
      </p:sp>
    </p:spTree>
    <p:extLst>
      <p:ext uri="{BB962C8B-B14F-4D97-AF65-F5344CB8AC3E}">
        <p14:creationId xmlns:p14="http://schemas.microsoft.com/office/powerpoint/2010/main" val="2938174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D37CC-B23E-6526-D0F5-7F02DFE61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5F2B06-89F6-4F95-6C54-A5BC55C0E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651008" y="9447931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F0E04-0EF7-DE14-5779-E7DD42D02634}"/>
              </a:ext>
            </a:extLst>
          </p:cNvPr>
          <p:cNvSpPr txBox="1"/>
          <p:nvPr/>
        </p:nvSpPr>
        <p:spPr>
          <a:xfrm>
            <a:off x="325839" y="1488208"/>
            <a:ext cx="101325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Classes that have custom </a:t>
            </a:r>
            <a:r>
              <a:rPr lang="en-US" sz="2400" b="1"/>
              <a:t>destructors</a:t>
            </a:r>
            <a:r>
              <a:rPr lang="en-US" sz="2400"/>
              <a:t> deal exclusively with </a:t>
            </a:r>
            <a:r>
              <a:rPr lang="en-US" sz="2400" b="1"/>
              <a:t>ownership</a:t>
            </a:r>
            <a:r>
              <a:rPr lang="en-US" sz="2400"/>
              <a:t>,</a:t>
            </a:r>
          </a:p>
          <a:p>
            <a:r>
              <a:rPr lang="en-US" sz="2400"/>
              <a:t>other classes should </a:t>
            </a:r>
            <a:r>
              <a:rPr lang="en-US" sz="2400" b="1"/>
              <a:t>not</a:t>
            </a:r>
            <a:r>
              <a:rPr lang="en-US" sz="2400"/>
              <a:t> need custom destructors.</a:t>
            </a:r>
          </a:p>
          <a:p>
            <a:endParaRPr lang="en-US"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FA7DAE-5CA1-21E1-187B-856F8F38DB3A}"/>
              </a:ext>
            </a:extLst>
          </p:cNvPr>
          <p:cNvSpPr txBox="1"/>
          <p:nvPr/>
        </p:nvSpPr>
        <p:spPr>
          <a:xfrm>
            <a:off x="238899" y="6372190"/>
            <a:ext cx="73811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2"/>
              </a:rPr>
              <a:t>https://en.cppreference.com/w/cpp/language/rule_of_three.html</a:t>
            </a:r>
            <a:endParaRPr lang="en-US"/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D46361-F617-BEB5-5EEE-46BDC1370807}"/>
              </a:ext>
            </a:extLst>
          </p:cNvPr>
          <p:cNvSpPr txBox="1"/>
          <p:nvPr/>
        </p:nvSpPr>
        <p:spPr>
          <a:xfrm>
            <a:off x="5009279" y="2498224"/>
            <a:ext cx="53019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/>
              <a:t>Single Responsibility Principle</a:t>
            </a:r>
          </a:p>
          <a:p>
            <a:pPr marL="342900" indent="-342900">
              <a:buFontTx/>
              <a:buChar char="-"/>
            </a:pPr>
            <a:r>
              <a:rPr lang="en-US" sz="2400"/>
              <a:t>RAII</a:t>
            </a:r>
          </a:p>
          <a:p>
            <a:pPr marL="342900" indent="-342900">
              <a:buFontTx/>
              <a:buChar char="-"/>
            </a:pPr>
            <a:r>
              <a:rPr lang="en-US" sz="2400"/>
              <a:t>Automatic Resource Management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622135-84B3-E6C3-CC25-5DF25495E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39" y="2498224"/>
            <a:ext cx="3867690" cy="382958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0513452-119C-343C-5947-A93F1E336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39" y="162645"/>
            <a:ext cx="11975706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Simplification: </a:t>
            </a:r>
            <a:br>
              <a:rPr lang="en-US" dirty="0"/>
            </a:br>
            <a:r>
              <a:rPr lang="en-US" dirty="0"/>
              <a:t>       Two kinds of classes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82798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50245-F88B-D116-636D-7E91D86EE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C4512-D94D-587D-4623-65FF06DDC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0E07B2-B39E-E071-B5CE-183F1C1FE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02" y="208290"/>
            <a:ext cx="11430000" cy="867952"/>
          </a:xfrm>
        </p:spPr>
        <p:txBody>
          <a:bodyPr>
            <a:normAutofit/>
          </a:bodyPr>
          <a:lstStyle/>
          <a:p>
            <a:r>
              <a:rPr lang="en-US" dirty="0"/>
              <a:t>Do not use C-style casts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CC5B46-2DDE-B310-6423-9DC1D07B3CDE}"/>
              </a:ext>
            </a:extLst>
          </p:cNvPr>
          <p:cNvSpPr txBox="1"/>
          <p:nvPr/>
        </p:nvSpPr>
        <p:spPr>
          <a:xfrm>
            <a:off x="321658" y="3707302"/>
            <a:ext cx="1001996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>
                <a:solidFill>
                  <a:srgbClr val="1F2328"/>
                </a:solidFill>
                <a:effectLst/>
                <a:latin typeface="-apple-system"/>
              </a:rPr>
              <a:t>Rationale</a:t>
            </a:r>
            <a:r>
              <a:rPr lang="en-US" sz="2000" b="0" i="0">
                <a:solidFill>
                  <a:srgbClr val="1F2328"/>
                </a:solidFill>
                <a:effectLst/>
                <a:latin typeface="-apple-system"/>
              </a:rPr>
              <a:t>: C-style casts are less explicit and more prone to errors compared to C++-style casts (</a:t>
            </a:r>
            <a:r>
              <a:rPr lang="en-US" sz="2000" b="0" i="0" err="1">
                <a:solidFill>
                  <a:srgbClr val="1F2328"/>
                </a:solidFill>
                <a:effectLst/>
                <a:latin typeface="ui-monospace"/>
              </a:rPr>
              <a:t>static_cast</a:t>
            </a:r>
            <a:r>
              <a:rPr lang="en-US" sz="2000" b="0" i="0">
                <a:solidFill>
                  <a:srgbClr val="1F2328"/>
                </a:solidFill>
                <a:effectLst/>
                <a:latin typeface="-apple-system"/>
              </a:rPr>
              <a:t>, </a:t>
            </a:r>
            <a:r>
              <a:rPr lang="en-US" sz="2000" b="0" i="0" err="1">
                <a:solidFill>
                  <a:srgbClr val="1F2328"/>
                </a:solidFill>
                <a:effectLst/>
                <a:latin typeface="ui-monospace"/>
              </a:rPr>
              <a:t>dynamic_cast</a:t>
            </a:r>
            <a:r>
              <a:rPr lang="en-US" sz="2000" b="0" i="0">
                <a:solidFill>
                  <a:srgbClr val="1F2328"/>
                </a:solidFill>
                <a:effectLst/>
                <a:latin typeface="-apple-system"/>
              </a:rPr>
              <a:t>, </a:t>
            </a:r>
            <a:r>
              <a:rPr lang="en-US" sz="2000" b="0" i="0" err="1">
                <a:solidFill>
                  <a:srgbClr val="1F2328"/>
                </a:solidFill>
                <a:effectLst/>
                <a:latin typeface="ui-monospace"/>
              </a:rPr>
              <a:t>const_cast</a:t>
            </a:r>
            <a:r>
              <a:rPr lang="en-US" sz="2000" b="0" i="0">
                <a:solidFill>
                  <a:srgbClr val="1F2328"/>
                </a:solidFill>
                <a:effectLst/>
                <a:latin typeface="-apple-system"/>
              </a:rPr>
              <a:t>, </a:t>
            </a:r>
            <a:r>
              <a:rPr lang="en-US" sz="2000" b="0" i="0" err="1">
                <a:solidFill>
                  <a:srgbClr val="1F2328"/>
                </a:solidFill>
                <a:effectLst/>
                <a:latin typeface="ui-monospace"/>
              </a:rPr>
              <a:t>reinterpret_cast</a:t>
            </a:r>
            <a:r>
              <a:rPr lang="en-US" sz="2000" b="0" i="0">
                <a:solidFill>
                  <a:srgbClr val="1F2328"/>
                </a:solidFill>
                <a:effectLst/>
                <a:latin typeface="-apple-system"/>
              </a:rPr>
              <a:t>). </a:t>
            </a:r>
          </a:p>
          <a:p>
            <a:pPr algn="l"/>
            <a:endParaRPr lang="en-US" sz="2000">
              <a:solidFill>
                <a:srgbClr val="1F2328"/>
              </a:solidFill>
              <a:latin typeface="-apple-system"/>
            </a:endParaRPr>
          </a:p>
          <a:p>
            <a:pPr algn="l"/>
            <a:r>
              <a:rPr lang="en-US" sz="2000" b="0" i="0">
                <a:solidFill>
                  <a:srgbClr val="1F2328"/>
                </a:solidFill>
                <a:effectLst/>
                <a:latin typeface="-apple-system"/>
              </a:rPr>
              <a:t>C++ casts provide better type safety and are easier to search for and review. They make the intention of the cast clearer, which improves code readability and maintainability.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9F66E8-756A-389D-8E2C-E125B35566C8}"/>
              </a:ext>
            </a:extLst>
          </p:cNvPr>
          <p:cNvSpPr txBox="1"/>
          <p:nvPr/>
        </p:nvSpPr>
        <p:spPr>
          <a:xfrm>
            <a:off x="394486" y="1519482"/>
            <a:ext cx="95829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In general, casts other then </a:t>
            </a:r>
            <a:r>
              <a:rPr lang="en-US" sz="2400" b="1" err="1"/>
              <a:t>static_cast</a:t>
            </a:r>
            <a:r>
              <a:rPr lang="en-US" sz="2400" b="1"/>
              <a:t> </a:t>
            </a:r>
            <a:r>
              <a:rPr lang="en-US" sz="2400"/>
              <a:t>should be considered a code smell, and probably warrants the code to be separated into a function that explains a ‘why’.</a:t>
            </a:r>
          </a:p>
        </p:txBody>
      </p:sp>
    </p:spTree>
    <p:extLst>
      <p:ext uri="{BB962C8B-B14F-4D97-AF65-F5344CB8AC3E}">
        <p14:creationId xmlns:p14="http://schemas.microsoft.com/office/powerpoint/2010/main" val="9860890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8F2AA-2702-96A2-6971-EE7A693AF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F485A-A91F-E35D-EE4E-9C2D251BC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C8E9DC-11A3-3B8B-D32A-54812D095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02" y="208290"/>
            <a:ext cx="11430000" cy="867952"/>
          </a:xfrm>
        </p:spPr>
        <p:txBody>
          <a:bodyPr>
            <a:normAutofit/>
          </a:bodyPr>
          <a:lstStyle/>
          <a:p>
            <a:r>
              <a:rPr lang="en-US" dirty="0"/>
              <a:t>More defaults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54412F-FEAE-43F7-0C7D-A0F1D9F7D02F}"/>
              </a:ext>
            </a:extLst>
          </p:cNvPr>
          <p:cNvSpPr txBox="1"/>
          <p:nvPr/>
        </p:nvSpPr>
        <p:spPr>
          <a:xfrm>
            <a:off x="252202" y="1897993"/>
            <a:ext cx="1131468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Avoid manual memory management using new, delete, malloc, free,...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Do not add member variables to classes that are used as interfaces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Do not use protected member variables.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Avoid the use of volatile, </a:t>
            </a:r>
            <a:r>
              <a:rPr lang="en-US" sz="2400" dirty="0" err="1"/>
              <a:t>const_cast</a:t>
            </a:r>
            <a:r>
              <a:rPr lang="en-US" sz="2400" dirty="0"/>
              <a:t>, </a:t>
            </a:r>
            <a:r>
              <a:rPr lang="en-US" sz="2400" dirty="0" err="1"/>
              <a:t>reinterpret_cast</a:t>
            </a:r>
            <a:r>
              <a:rPr lang="en-US" sz="2400" dirty="0"/>
              <a:t>, typedef, register, extern, protected and </a:t>
            </a:r>
            <a:r>
              <a:rPr lang="en-US" sz="2400" dirty="0" err="1"/>
              <a:t>va_arg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Make all destructors of classes used in runtime polymorphism virtual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F0B5A3-ED80-EA51-123A-20FEBF781384}"/>
              </a:ext>
            </a:extLst>
          </p:cNvPr>
          <p:cNvSpPr txBox="1"/>
          <p:nvPr/>
        </p:nvSpPr>
        <p:spPr>
          <a:xfrm>
            <a:off x="451129" y="4872026"/>
            <a:ext cx="97852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Refer to the guidelines document for details and rationales:</a:t>
            </a:r>
          </a:p>
          <a:p>
            <a:r>
              <a:rPr lang="en-US">
                <a:hlinkClick r:id="rId2"/>
              </a:rPr>
              <a:t>https://github.com/janwilmans/guidelines/blob/main/guidelines_details.md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8103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73B17-81F0-D279-18CD-6F8467AB4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DC996-EF5A-D617-0A48-015D0BED9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02" y="208289"/>
            <a:ext cx="11430000" cy="1325563"/>
          </a:xfrm>
        </p:spPr>
        <p:txBody>
          <a:bodyPr>
            <a:normAutofit/>
          </a:bodyPr>
          <a:lstStyle/>
          <a:p>
            <a:r>
              <a:rPr lang="en-US"/>
              <a:t>document Exceptional code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EC0154-3574-F193-9004-7EB6977EE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8FF4A-224C-24E9-208A-5F76A66D0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75" y="1143272"/>
            <a:ext cx="3867690" cy="3905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BFC96E-1F9F-2A2B-A9D5-EEDADDAC8FB2}"/>
              </a:ext>
            </a:extLst>
          </p:cNvPr>
          <p:cNvSpPr txBox="1"/>
          <p:nvPr/>
        </p:nvSpPr>
        <p:spPr>
          <a:xfrm>
            <a:off x="383175" y="1822504"/>
            <a:ext cx="1154970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To keep code simple and safe.</a:t>
            </a:r>
          </a:p>
          <a:p>
            <a:r>
              <a:rPr lang="en-US" sz="2400"/>
              <a:t> </a:t>
            </a:r>
          </a:p>
          <a:p>
            <a:r>
              <a:rPr lang="en-US" sz="2400"/>
              <a:t>Sometimes, ugly, unsafe, or error-prone techniques are necessary </a:t>
            </a:r>
          </a:p>
          <a:p>
            <a:r>
              <a:rPr lang="en-US" sz="2400"/>
              <a:t>for logical or performance reasons. If so, keep them </a:t>
            </a:r>
            <a:r>
              <a:rPr lang="en-US" sz="2400" b="1"/>
              <a:t>local</a:t>
            </a:r>
            <a:r>
              <a:rPr lang="en-US" sz="2400"/>
              <a:t> and </a:t>
            </a:r>
            <a:r>
              <a:rPr lang="en-US" sz="2400" b="1"/>
              <a:t>well</a:t>
            </a:r>
            <a:r>
              <a:rPr lang="en-US" sz="2400"/>
              <a:t> </a:t>
            </a:r>
            <a:r>
              <a:rPr lang="en-US" sz="2400" b="1"/>
              <a:t>documented</a:t>
            </a:r>
            <a:r>
              <a:rPr lang="en-US" sz="2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45287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3D88-5E14-88EA-9453-565B04388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112341"/>
            <a:ext cx="10668000" cy="1325563"/>
          </a:xfrm>
        </p:spPr>
        <p:txBody>
          <a:bodyPr/>
          <a:lstStyle/>
          <a:p>
            <a:r>
              <a:rPr lang="en-US"/>
              <a:t>Least surprising behavior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B05DA90A-9E41-D032-D82B-E73DC4ABD32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5967" y="1295778"/>
            <a:ext cx="10542208" cy="3736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/>
              <a:t>In summary: use </a:t>
            </a:r>
            <a:r>
              <a:rPr lang="en-US" sz="3200" b="1"/>
              <a:t>default guidelines</a:t>
            </a:r>
            <a:r>
              <a:rPr lang="en-US" sz="3200"/>
              <a:t> if you can.</a:t>
            </a:r>
          </a:p>
          <a:p>
            <a:pPr marL="0" indent="0">
              <a:buNone/>
            </a:pPr>
            <a:endParaRPr lang="en-US" sz="3200"/>
          </a:p>
          <a:p>
            <a:pPr marL="0" indent="0">
              <a:buNone/>
            </a:pPr>
            <a:r>
              <a:rPr lang="en-US" sz="3200"/>
              <a:t>Why? Because it is the </a:t>
            </a:r>
            <a:r>
              <a:rPr lang="en-US" sz="3200" b="1"/>
              <a:t>default</a:t>
            </a:r>
            <a:r>
              <a:rPr lang="en-US" sz="3200"/>
              <a:t> and therefore gives the </a:t>
            </a:r>
          </a:p>
          <a:p>
            <a:pPr marL="0" indent="0">
              <a:buNone/>
            </a:pPr>
            <a:r>
              <a:rPr lang="en-US" sz="3200" b="1"/>
              <a:t>least surprising behavior.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586DF8-7723-1AD8-DFFD-AF354E9B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569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3E269-95F3-1A24-08A9-E1E0AED5B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FCED5C-4A9E-1665-CFCF-50D370695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317552-1F61-068D-38F5-6A8000F60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764" y="1201172"/>
            <a:ext cx="7606514" cy="552030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2586BA5-3F41-6F0E-168E-C2880AEA0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175" y="0"/>
            <a:ext cx="9515464" cy="687823"/>
          </a:xfrm>
        </p:spPr>
        <p:txBody>
          <a:bodyPr>
            <a:normAutofit fontScale="90000"/>
          </a:bodyPr>
          <a:lstStyle/>
          <a:p>
            <a:r>
              <a:rPr lang="en-US"/>
              <a:t>website, living document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D91CA7-6021-D36C-B8C8-44E3FFC4C49B}"/>
              </a:ext>
            </a:extLst>
          </p:cNvPr>
          <p:cNvSpPr txBox="1"/>
          <p:nvPr/>
        </p:nvSpPr>
        <p:spPr>
          <a:xfrm>
            <a:off x="2880764" y="713665"/>
            <a:ext cx="6097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https://github.com/janwilmans/guidelines</a:t>
            </a:r>
          </a:p>
        </p:txBody>
      </p:sp>
    </p:spTree>
    <p:extLst>
      <p:ext uri="{BB962C8B-B14F-4D97-AF65-F5344CB8AC3E}">
        <p14:creationId xmlns:p14="http://schemas.microsoft.com/office/powerpoint/2010/main" val="1241315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F0B5F-6BC5-588C-1E1F-CA7E9F476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98AD5-2850-6498-2AE7-F79128528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112341"/>
            <a:ext cx="10668000" cy="1325563"/>
          </a:xfrm>
        </p:spPr>
        <p:txBody>
          <a:bodyPr/>
          <a:lstStyle/>
          <a:p>
            <a:r>
              <a:rPr lang="en-US"/>
              <a:t>Take-aways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A0A977-D69A-A846-FBCB-5646DA440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E9DC321-D3EA-F363-1600-AFEF09F23890}"/>
              </a:ext>
            </a:extLst>
          </p:cNvPr>
          <p:cNvSpPr txBox="1">
            <a:spLocks/>
          </p:cNvSpPr>
          <p:nvPr/>
        </p:nvSpPr>
        <p:spPr>
          <a:xfrm>
            <a:off x="390512" y="1817030"/>
            <a:ext cx="10032030" cy="19906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sz="3300" b="1"/>
              <a:t>defaults</a:t>
            </a:r>
            <a:r>
              <a:rPr lang="en-US" sz="3300"/>
              <a:t> are better than just guidelines</a:t>
            </a:r>
          </a:p>
          <a:p>
            <a:pPr marL="342900" indent="-342900"/>
            <a:r>
              <a:rPr lang="en-US" sz="3300" b="1"/>
              <a:t>shared </a:t>
            </a:r>
            <a:r>
              <a:rPr lang="en-US" sz="3300"/>
              <a:t>defaults</a:t>
            </a:r>
            <a:r>
              <a:rPr lang="en-US" sz="3300" b="1"/>
              <a:t> (conventions) </a:t>
            </a:r>
            <a:r>
              <a:rPr lang="en-US" sz="3300"/>
              <a:t>are better still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15AB9C-783F-E66C-6A04-1E6DEE6B5C5B}"/>
              </a:ext>
            </a:extLst>
          </p:cNvPr>
          <p:cNvSpPr txBox="1"/>
          <p:nvPr/>
        </p:nvSpPr>
        <p:spPr>
          <a:xfrm>
            <a:off x="4669104" y="40809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36B4531-E17D-AFA4-78F0-31CBFEDE9792}"/>
              </a:ext>
            </a:extLst>
          </p:cNvPr>
          <p:cNvSpPr txBox="1">
            <a:spLocks/>
          </p:cNvSpPr>
          <p:nvPr/>
        </p:nvSpPr>
        <p:spPr>
          <a:xfrm>
            <a:off x="1812078" y="5018976"/>
            <a:ext cx="6652191" cy="6049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 anchorCtr="0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chemeClr val="tx1"/>
                </a:solidFill>
              </a:rPr>
              <a:t>conventional c++ ?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280D7E70-040F-AEB3-4E5A-1FE19FA43B90}"/>
              </a:ext>
            </a:extLst>
          </p:cNvPr>
          <p:cNvSpPr/>
          <p:nvPr/>
        </p:nvSpPr>
        <p:spPr>
          <a:xfrm>
            <a:off x="4232134" y="3471254"/>
            <a:ext cx="873940" cy="12743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DA2609-B730-B4F0-C19B-E79E94AF1A46}"/>
              </a:ext>
            </a:extLst>
          </p:cNvPr>
          <p:cNvSpPr txBox="1"/>
          <p:nvPr/>
        </p:nvSpPr>
        <p:spPr>
          <a:xfrm>
            <a:off x="5106074" y="3711652"/>
            <a:ext cx="2365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Maybe in 20 years?</a:t>
            </a:r>
          </a:p>
        </p:txBody>
      </p:sp>
    </p:spTree>
    <p:extLst>
      <p:ext uri="{BB962C8B-B14F-4D97-AF65-F5344CB8AC3E}">
        <p14:creationId xmlns:p14="http://schemas.microsoft.com/office/powerpoint/2010/main" val="35008169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D5D0-A3F3-ACB8-86F7-C71283884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4385A9-7935-0000-DC04-BDF05D8ED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F528E8-9937-1678-37EE-25940E9F51D9}"/>
              </a:ext>
            </a:extLst>
          </p:cNvPr>
          <p:cNvSpPr txBox="1">
            <a:spLocks/>
          </p:cNvSpPr>
          <p:nvPr/>
        </p:nvSpPr>
        <p:spPr>
          <a:xfrm>
            <a:off x="4149976" y="5498539"/>
            <a:ext cx="4515356" cy="1359461"/>
          </a:xfrm>
          <a:prstGeom prst="rect">
            <a:avLst/>
          </a:prstGeom>
        </p:spPr>
        <p:txBody>
          <a:bodyPr bIns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blog: </a:t>
            </a:r>
            <a:r>
              <a:rPr lang="en-US" sz="1800" b="1"/>
              <a:t>nullptr.nl</a:t>
            </a:r>
          </a:p>
          <a:p>
            <a:r>
              <a:rPr lang="en-US" sz="2000" err="1"/>
              <a:t>janwilmans.bsky.social</a:t>
            </a:r>
            <a:r>
              <a:rPr lang="en-US" sz="2000"/>
              <a:t> </a:t>
            </a:r>
          </a:p>
          <a:p>
            <a:r>
              <a:rPr lang="en-US" sz="2000" err="1"/>
              <a:t>janwilmans@toot.community</a:t>
            </a:r>
            <a:endParaRPr lang="en-US" sz="2000"/>
          </a:p>
          <a:p>
            <a:endParaRPr lang="en-US" sz="2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BF81FA-4E01-B068-00DC-D3E88381A194}"/>
              </a:ext>
            </a:extLst>
          </p:cNvPr>
          <p:cNvSpPr txBox="1"/>
          <p:nvPr/>
        </p:nvSpPr>
        <p:spPr>
          <a:xfrm>
            <a:off x="-67798" y="129105"/>
            <a:ext cx="84096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/>
              <a:t>The Default Guidelines can be found here:</a:t>
            </a:r>
          </a:p>
          <a:p>
            <a:pPr lvl="1"/>
            <a:r>
              <a:rPr lang="en-US" sz="2400" b="1"/>
              <a:t>https://github.com/janwilmans/guidelines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831F3D1-8705-04E2-7845-762A3127B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798" y="2997201"/>
            <a:ext cx="3850393" cy="386079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E51DE76E-2442-64DC-B68E-8BF337979423}"/>
              </a:ext>
            </a:extLst>
          </p:cNvPr>
          <p:cNvSpPr txBox="1">
            <a:spLocks/>
          </p:cNvSpPr>
          <p:nvPr/>
        </p:nvSpPr>
        <p:spPr>
          <a:xfrm>
            <a:off x="4013853" y="2242217"/>
            <a:ext cx="5528217" cy="26853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THANK YOU!</a:t>
            </a:r>
          </a:p>
          <a:p>
            <a:endParaRPr lang="en-US"/>
          </a:p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4746000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F23E504-34F1-49E1-924D-4A96CE110E64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3D44EE7E4864B86D6DB41219A452C" ma:contentTypeVersion="14" ma:contentTypeDescription="Crée un document." ma:contentTypeScope="" ma:versionID="0ecc49def22307230a2a43aed3d8f8bd">
  <xsd:schema xmlns:xsd="http://www.w3.org/2001/XMLSchema" xmlns:xs="http://www.w3.org/2001/XMLSchema" xmlns:p="http://schemas.microsoft.com/office/2006/metadata/properties" xmlns:ns3="767f6c9b-a44e-4d31-86e3-4b826eaa2396" xmlns:ns4="b1eac9a3-5c49-4f84-b52b-f9d3c7ad2cb0" targetNamespace="http://schemas.microsoft.com/office/2006/metadata/properties" ma:root="true" ma:fieldsID="572150749ffa0d619f76df2fa52435e9" ns3:_="" ns4:_="">
    <xsd:import namespace="767f6c9b-a44e-4d31-86e3-4b826eaa2396"/>
    <xsd:import namespace="b1eac9a3-5c49-4f84-b52b-f9d3c7ad2cb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f6c9b-a44e-4d31-86e3-4b826eaa23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ac9a3-5c49-4f84-b52b-f9d3c7ad2cb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67f6c9b-a44e-4d31-86e3-4b826eaa2396" xsi:nil="true"/>
  </documentManagement>
</p:properties>
</file>

<file path=customXml/itemProps1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B464DF2-B312-4CFA-A29C-8B754E25E18F}">
  <ds:schemaRefs>
    <ds:schemaRef ds:uri="767f6c9b-a44e-4d31-86e3-4b826eaa2396"/>
    <ds:schemaRef ds:uri="b1eac9a3-5c49-4f84-b52b-f9d3c7ad2cb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http://purl.org/dc/terms/"/>
    <ds:schemaRef ds:uri="http://www.w3.org/XML/1998/namespace"/>
    <ds:schemaRef ds:uri="b1eac9a3-5c49-4f84-b52b-f9d3c7ad2cb0"/>
    <ds:schemaRef ds:uri="http://schemas.openxmlformats.org/package/2006/metadata/core-properties"/>
    <ds:schemaRef ds:uri="767f6c9b-a44e-4d31-86e3-4b826eaa2396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527a3bac-223c-4132-9bb5-1d042ad5a48f}" enabled="0" method="" siteId="{527a3bac-223c-4132-9bb5-1d042ad5a48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2466</Words>
  <Application>Microsoft Office PowerPoint</Application>
  <PresentationFormat>Widescreen</PresentationFormat>
  <Paragraphs>403</Paragraphs>
  <Slides>46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-apple-system</vt:lpstr>
      <vt:lpstr>Aptos</vt:lpstr>
      <vt:lpstr>Arial</vt:lpstr>
      <vt:lpstr>Avenir Next LT Pro</vt:lpstr>
      <vt:lpstr>Calibri</vt:lpstr>
      <vt:lpstr>Courier New</vt:lpstr>
      <vt:lpstr>ui-monospace</vt:lpstr>
      <vt:lpstr>Custom</vt:lpstr>
      <vt:lpstr>Default Guidelines for Better C++  Jan Wilmans</vt:lpstr>
      <vt:lpstr>PowerPoint Presentation</vt:lpstr>
      <vt:lpstr>The goal: Default guidelines</vt:lpstr>
      <vt:lpstr>understandable code </vt:lpstr>
      <vt:lpstr>PowerPoint Presentation</vt:lpstr>
      <vt:lpstr>Maintainable code</vt:lpstr>
      <vt:lpstr>PowerPoint Presentation</vt:lpstr>
      <vt:lpstr>What is stopping us?</vt:lpstr>
      <vt:lpstr>common headaches</vt:lpstr>
      <vt:lpstr>PowerPoint Presentation</vt:lpstr>
      <vt:lpstr>Where to find good defaults?</vt:lpstr>
      <vt:lpstr>Quote from the C++ Core Guidelines:</vt:lpstr>
      <vt:lpstr>let’s create a small set of weak rules!</vt:lpstr>
      <vt:lpstr>C++ DEFAULT Guidelines </vt:lpstr>
      <vt:lpstr>Guidelines, not rules</vt:lpstr>
      <vt:lpstr>PowerPoint Presentation</vt:lpstr>
      <vt:lpstr>1. Turn on warnings!  and use sanitizers  </vt:lpstr>
      <vt:lpstr>MOAR WARNINGs</vt:lpstr>
      <vt:lpstr>MOAR WARNINGs</vt:lpstr>
      <vt:lpstr>dealing with existing warnings</vt:lpstr>
      <vt:lpstr>RUN tests with sanitizers</vt:lpstr>
      <vt:lpstr>collect reports from CI BUILDs</vt:lpstr>
      <vt:lpstr>collect reports from CI BUILDs</vt:lpstr>
      <vt:lpstr>TSAN false positives</vt:lpstr>
      <vt:lpstr>clang-format &amp; Editorconfig</vt:lpstr>
      <vt:lpstr>open canary</vt:lpstr>
      <vt:lpstr>now on to actual coding guidelines</vt:lpstr>
      <vt:lpstr>no raw loops</vt:lpstr>
      <vt:lpstr>Avoid global mutable state </vt:lpstr>
      <vt:lpstr>Limit scope</vt:lpstr>
      <vt:lpstr>Initialize all variables At declaration     </vt:lpstr>
      <vt:lpstr>PowerPoint Presentation</vt:lpstr>
      <vt:lpstr>PowerPoint Presentation</vt:lpstr>
      <vt:lpstr>PowerPoint Presentation</vt:lpstr>
      <vt:lpstr>Use [[nodiscard]]</vt:lpstr>
      <vt:lpstr>Avoid returning values using arguments</vt:lpstr>
      <vt:lpstr>Use automatic resource management (RAII)  </vt:lpstr>
      <vt:lpstr>Use automatic resource management (RAII)  </vt:lpstr>
      <vt:lpstr>Simplification:         Two kinds of classes   </vt:lpstr>
      <vt:lpstr>Do not use C-style casts</vt:lpstr>
      <vt:lpstr>More defaults</vt:lpstr>
      <vt:lpstr>document Exceptional code </vt:lpstr>
      <vt:lpstr>Least surprising behavior</vt:lpstr>
      <vt:lpstr>website, living document</vt:lpstr>
      <vt:lpstr>Take-aways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Wilmans</dc:creator>
  <cp:lastModifiedBy>Jan Wilmans</cp:lastModifiedBy>
  <cp:revision>1</cp:revision>
  <dcterms:created xsi:type="dcterms:W3CDTF">2024-11-17T20:18:54Z</dcterms:created>
  <dcterms:modified xsi:type="dcterms:W3CDTF">2025-10-11T09:24:28Z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0x010100CC23D44EE7E4864B86D6DB41219A452C</vt:lpwstr>
  </property>
</Properties>
</file>